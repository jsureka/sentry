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9DB2B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632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B2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DB2B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 model</c:v>
                  </c:pt>
                  <c:pt idx="1">
                    <c:v>SENTRY</c:v>
                  </c:pt>
                  <c:pt idx="2">
                    <c:v>CodeImprove
(base)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80.6</c:v>
                </c:pt>
                <c:pt idx="1">
                  <c:v>83.5</c:v>
                </c:pt>
                <c:pt idx="2">
                  <c:v>81.9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6324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4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4"/>
          <c:min val="7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3F7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5-1.png"/><Relationship Id="rId3" Type="http://schemas.openxmlformats.org/officeDocument/2006/relationships/image" Target="../media/image-15-2.png"/><Relationship Id="rId4" Type="http://schemas.openxmlformats.org/officeDocument/2006/relationships/image" Target="../media/image-1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27168" y="1234440"/>
            <a:ext cx="1737360" cy="173736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2928" y="1627632"/>
            <a:ext cx="1005840" cy="960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246120"/>
            <a:ext cx="12191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4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code-analysis AI trustworthy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0" y="46177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training-free reliability layer for code classifiers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0" y="5806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Jitesh Sureka</a:t>
            </a:r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(Roll 1988)</a:t>
            </a:r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•     Supervised by </a:t>
            </a:r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Emon Kumar Dey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now judges our code.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23774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we trust how sure it is?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9174175" y="3017520"/>
            <a:ext cx="2011680" cy="201168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6862" y="3480206"/>
            <a:ext cx="1086307" cy="108630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0080" y="4023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&amp; vulnerability detectors decide what ships.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40080" y="45262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confidence guides those decisions — so it has to be honest.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are overconfident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2057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announce “99% sure” — and are still wrong.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834640"/>
            <a:ext cx="475488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3154680"/>
            <a:ext cx="822960" cy="8229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401" y="3343961"/>
            <a:ext cx="444398" cy="44439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65960" y="32461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Says: 99% confident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960120" y="4297680"/>
            <a:ext cx="4114800" cy="310896"/>
          </a:xfrm>
          <a:prstGeom prst="roundRect">
            <a:avLst>
              <a:gd name="adj" fmla="val 14706"/>
            </a:avLst>
          </a:prstGeom>
          <a:solidFill>
            <a:srgbClr val="DBE4E8"/>
          </a:solidFill>
          <a:ln/>
        </p:spPr>
      </p:sp>
      <p:sp>
        <p:nvSpPr>
          <p:cNvPr id="14" name="Shape 10"/>
          <p:cNvSpPr/>
          <p:nvPr/>
        </p:nvSpPr>
        <p:spPr>
          <a:xfrm>
            <a:off x="960120" y="4297680"/>
            <a:ext cx="4069080" cy="310896"/>
          </a:xfrm>
          <a:prstGeom prst="roundRect">
            <a:avLst>
              <a:gd name="adj" fmla="val 14706"/>
            </a:avLst>
          </a:prstGeom>
          <a:solidFill>
            <a:srgbClr val="C0392B"/>
          </a:solidFill>
          <a:ln/>
        </p:spPr>
      </p:sp>
      <p:sp>
        <p:nvSpPr>
          <p:cNvPr id="15" name="Text 11"/>
          <p:cNvSpPr/>
          <p:nvPr/>
        </p:nvSpPr>
        <p:spPr>
          <a:xfrm>
            <a:off x="960120" y="4709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right far less often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852160" y="2834640"/>
            <a:ext cx="4846320" cy="2468880"/>
          </a:xfrm>
          <a:prstGeom prst="roundRect">
            <a:avLst>
              <a:gd name="adj" fmla="val 3333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172200" y="3154680"/>
            <a:ext cx="822960" cy="822960"/>
          </a:xfrm>
          <a:prstGeom prst="ellipse">
            <a:avLst/>
          </a:prstGeom>
          <a:solidFill>
            <a:srgbClr val="FBEBD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481" y="3343961"/>
            <a:ext cx="444398" cy="44439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178040" y="32004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an intern who never says “I’m not sure.”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6172200" y="4343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that doesn’t track reality is worse than no confidence at all.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Confident + wrong = risky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163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Misses real bugs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960120" y="4160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defect waved through with high confidence reaches production.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2860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81635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False alarms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4572000" y="4160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Crying wolf on safe code wastes review time and erodes trust.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863840" y="22860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2816352"/>
            <a:ext cx="493776" cy="4937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8388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pipelines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8183880" y="4160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acts on the score. A wrong-but-confident score acts too.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people do today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19456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51460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72491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3611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Fine-tuned models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960120" y="42062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CodeBERT / GraphCodeBERT. Strong accuracy — but overconfident.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19456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51460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72491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3611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572000" y="42062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Capable, but costly at scale and still poorly calibrated.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863840" y="219456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51460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2724912"/>
            <a:ext cx="493776" cy="4937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83880" y="3611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CodeImprove (ICSE’25)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8183880" y="42062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the INPUT: detect odd code, rewrite it. No retraining.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missing piece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468880"/>
            <a:ext cx="1280160" cy="12801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2763317"/>
            <a:ext cx="691286" cy="69128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0080" y="4023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one makes the model’s confidence trustworthy —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640080" y="4617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</a:t>
            </a:r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retraining</a:t>
            </a:r>
            <a:pPr indent="0" marL="0">
              <a:buNone/>
            </a:pPr>
            <a:r>
              <a:rPr lang="en-US" sz="2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model.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640080" y="5440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gap SENTRY fills.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IDEA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37360"/>
            <a:ext cx="1371600" cy="137160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075688"/>
            <a:ext cx="603504" cy="6035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3774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237744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reliability layer you bolt onto any trained model.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40080" y="39319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914400" y="4224528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5" y="4403293"/>
            <a:ext cx="419710" cy="4197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828800" y="3931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retraining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251960" y="39319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526280" y="4224528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045" y="4403293"/>
            <a:ext cx="419710" cy="41971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40680" y="3931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any model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7863840" y="39319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8138160" y="4224528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6925" y="4403293"/>
            <a:ext cx="419710" cy="41971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052560" y="3931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WORDS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 is a guard at the gate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468880"/>
            <a:ext cx="1828800" cy="18288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889504"/>
            <a:ext cx="987552" cy="9875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108960" y="2468880"/>
            <a:ext cx="73152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337560" y="2761488"/>
            <a:ext cx="822960" cy="82296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841" y="2950769"/>
            <a:ext cx="444398" cy="44439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43400" y="26517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Confident prediction?</a:t>
            </a:r>
            <a:endParaRPr lang="en-US" sz="1900" dirty="0"/>
          </a:p>
        </p:txBody>
      </p:sp>
      <p:sp>
        <p:nvSpPr>
          <p:cNvPr id="14" name="Text 9"/>
          <p:cNvSpPr/>
          <p:nvPr/>
        </p:nvSpPr>
        <p:spPr>
          <a:xfrm>
            <a:off x="4343400" y="312724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it straight through.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3108960" y="4069080"/>
            <a:ext cx="73152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337560" y="4361688"/>
            <a:ext cx="822960" cy="8229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6841" y="4550969"/>
            <a:ext cx="444398" cy="44439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343400" y="42519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Unsure?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4343400" y="472744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Double-check against memory of similar past code.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1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952848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F3F7F9"/>
          </a:solidFill>
          <a:ln w="15875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730088" y="2971800"/>
            <a:ext cx="731520" cy="73152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314005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2848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F3F7F9"/>
          </a:solidFill>
          <a:ln w="15875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337560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1" name="Shape 15"/>
          <p:cNvSpPr/>
          <p:nvPr/>
        </p:nvSpPr>
        <p:spPr>
          <a:xfrm>
            <a:off x="7284568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2" name="Shape 16"/>
          <p:cNvSpPr/>
          <p:nvPr/>
        </p:nvSpPr>
        <p:spPr>
          <a:xfrm>
            <a:off x="1371600" y="306324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1328" y="3172968"/>
            <a:ext cx="292608" cy="292608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554480" y="3630168"/>
            <a:ext cx="118872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5" name="Shape 18"/>
          <p:cNvSpPr/>
          <p:nvPr/>
        </p:nvSpPr>
        <p:spPr>
          <a:xfrm>
            <a:off x="1554480" y="3776472"/>
            <a:ext cx="91440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6" name="Shape 19"/>
          <p:cNvSpPr/>
          <p:nvPr/>
        </p:nvSpPr>
        <p:spPr>
          <a:xfrm>
            <a:off x="1554480" y="3922776"/>
            <a:ext cx="109728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7" name="Text 20"/>
          <p:cNvSpPr/>
          <p:nvPr/>
        </p:nvSpPr>
        <p:spPr>
          <a:xfrm>
            <a:off x="640080" y="4937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code snippet arrives.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2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F3F7F9"/>
          </a:solidFill>
          <a:ln w="15875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952848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730088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314005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2848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337560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1" name="Shape 15"/>
          <p:cNvSpPr/>
          <p:nvPr/>
        </p:nvSpPr>
        <p:spPr>
          <a:xfrm>
            <a:off x="7284568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2" name="Shape 16"/>
          <p:cNvSpPr/>
          <p:nvPr/>
        </p:nvSpPr>
        <p:spPr>
          <a:xfrm>
            <a:off x="5318608" y="306324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8336" y="3172968"/>
            <a:ext cx="292608" cy="292608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5501488" y="3630168"/>
            <a:ext cx="118872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5" name="Shape 18"/>
          <p:cNvSpPr/>
          <p:nvPr/>
        </p:nvSpPr>
        <p:spPr>
          <a:xfrm>
            <a:off x="5501488" y="3776472"/>
            <a:ext cx="91440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6" name="Shape 19"/>
          <p:cNvSpPr/>
          <p:nvPr/>
        </p:nvSpPr>
        <p:spPr>
          <a:xfrm>
            <a:off x="5501488" y="3922776"/>
            <a:ext cx="109728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7" name="Text 20"/>
          <p:cNvSpPr/>
          <p:nvPr/>
        </p:nvSpPr>
        <p:spPr>
          <a:xfrm>
            <a:off x="8899855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9128455" y="4864608"/>
            <a:ext cx="1828800" cy="237744"/>
          </a:xfrm>
          <a:prstGeom prst="roundRect">
            <a:avLst>
              <a:gd name="adj" fmla="val 19231"/>
            </a:avLst>
          </a:prstGeom>
          <a:solidFill>
            <a:srgbClr val="DBE4E8"/>
          </a:solidFill>
          <a:ln/>
        </p:spPr>
      </p:sp>
      <p:sp>
        <p:nvSpPr>
          <p:cNvPr id="29" name="Shape 22"/>
          <p:cNvSpPr/>
          <p:nvPr/>
        </p:nvSpPr>
        <p:spPr>
          <a:xfrm>
            <a:off x="9128455" y="4864608"/>
            <a:ext cx="1371600" cy="237744"/>
          </a:xfrm>
          <a:prstGeom prst="roundRect">
            <a:avLst>
              <a:gd name="adj" fmla="val 19231"/>
            </a:avLst>
          </a:prstGeom>
          <a:solidFill>
            <a:srgbClr val="028090"/>
          </a:solidFill>
          <a:ln/>
        </p:spPr>
      </p:sp>
      <p:sp>
        <p:nvSpPr>
          <p:cNvPr id="30" name="Text 23"/>
          <p:cNvSpPr/>
          <p:nvPr/>
        </p:nvSpPr>
        <p:spPr>
          <a:xfrm>
            <a:off x="640080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predicts and reports how sure it is.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3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Confident?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37560" y="2743200"/>
            <a:ext cx="640080" cy="310896"/>
          </a:xfrm>
          <a:prstGeom prst="rightArrow">
            <a:avLst/>
          </a:prstGeom>
          <a:solidFill>
            <a:srgbClr val="2E8B57"/>
          </a:solidFill>
          <a:ln/>
        </p:spPr>
      </p:sp>
      <p:sp>
        <p:nvSpPr>
          <p:cNvPr id="13" name="Text 9"/>
          <p:cNvSpPr/>
          <p:nvPr/>
        </p:nvSpPr>
        <p:spPr>
          <a:xfrm>
            <a:off x="320040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 → pass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920240" y="4526280"/>
            <a:ext cx="310896" cy="548640"/>
          </a:xfrm>
          <a:prstGeom prst="downArrow">
            <a:avLst/>
          </a:prstGeom>
          <a:solidFill>
            <a:srgbClr val="B7791F"/>
          </a:solidFill>
          <a:ln/>
        </p:spPr>
      </p:sp>
      <p:sp>
        <p:nvSpPr>
          <p:cNvPr id="15" name="Text 11"/>
          <p:cNvSpPr/>
          <p:nvPr/>
        </p:nvSpPr>
        <p:spPr>
          <a:xfrm>
            <a:off x="914400" y="5074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Unsure ↓ check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4861408" y="5349240"/>
            <a:ext cx="2743200" cy="1143000"/>
          </a:xfrm>
          <a:prstGeom prst="roundRect">
            <a:avLst>
              <a:gd name="adj" fmla="val 8000"/>
            </a:avLst>
          </a:prstGeom>
          <a:solidFill>
            <a:srgbClr val="DCEEF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090008" y="5532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8773" y="5710885"/>
            <a:ext cx="419710" cy="41971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912968" y="544068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of similar code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640080" y="2057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gate: confident cases pass; unsure cases get a second opinion.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4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vote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952848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730088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314005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2848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+ calibrate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output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337560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1" name="Shape 15"/>
          <p:cNvSpPr/>
          <p:nvPr/>
        </p:nvSpPr>
        <p:spPr>
          <a:xfrm>
            <a:off x="7284568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2" name="Text 16"/>
          <p:cNvSpPr/>
          <p:nvPr/>
        </p:nvSpPr>
        <p:spPr>
          <a:xfrm>
            <a:off x="8899855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9128455" y="4864608"/>
            <a:ext cx="1828800" cy="237744"/>
          </a:xfrm>
          <a:prstGeom prst="roundRect">
            <a:avLst>
              <a:gd name="adj" fmla="val 19231"/>
            </a:avLst>
          </a:prstGeom>
          <a:solidFill>
            <a:srgbClr val="DBE4E8"/>
          </a:solidFill>
          <a:ln/>
        </p:spPr>
      </p:sp>
      <p:sp>
        <p:nvSpPr>
          <p:cNvPr id="24" name="Shape 18"/>
          <p:cNvSpPr/>
          <p:nvPr/>
        </p:nvSpPr>
        <p:spPr>
          <a:xfrm>
            <a:off x="9128455" y="4864608"/>
            <a:ext cx="1078992" cy="237744"/>
          </a:xfrm>
          <a:prstGeom prst="roundRect">
            <a:avLst>
              <a:gd name="adj" fmla="val 19231"/>
            </a:avLst>
          </a:prstGeom>
          <a:solidFill>
            <a:srgbClr val="2E8B57"/>
          </a:solidFill>
          <a:ln/>
        </p:spPr>
      </p:sp>
      <p:sp>
        <p:nvSpPr>
          <p:cNvPr id="25" name="Text 19"/>
          <p:cNvSpPr/>
          <p:nvPr/>
        </p:nvSpPr>
        <p:spPr>
          <a:xfrm>
            <a:off x="640080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vote, results blend, confidence is recalibrated.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asked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163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960120" y="41605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models trustworthy out of the box?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251960" y="228600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81635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RQ2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4572000" y="41605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training-free layer improve them?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7863840" y="228600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2816352"/>
            <a:ext cx="493776" cy="4937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8388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RQ3</a:t>
            </a:r>
            <a:endParaRPr lang="en-US" sz="2200" dirty="0"/>
          </a:p>
        </p:txBody>
      </p:sp>
      <p:sp>
        <p:nvSpPr>
          <p:cNvPr id="22" name="Text 16"/>
          <p:cNvSpPr/>
          <p:nvPr/>
        </p:nvSpPr>
        <p:spPr>
          <a:xfrm>
            <a:off x="8183880" y="41605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does it work — and when not?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— CALIBRATION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Overconfidence is real — and fixable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2011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</a:t>
            </a:r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how often right.   </a:t>
            </a:r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</a:t>
            </a:r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does “90% sure” mean right 90% of the time.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2834640"/>
            <a:ext cx="4754880" cy="2743200"/>
          </a:xfrm>
          <a:prstGeom prst="roundRect">
            <a:avLst>
              <a:gd name="adj" fmla="val 3000"/>
            </a:avLst>
          </a:prstGeom>
          <a:solidFill>
            <a:srgbClr val="F8E6E3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34290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0.23</a:t>
            </a:r>
            <a:endParaRPr lang="en-US" sz="7200" dirty="0"/>
          </a:p>
        </p:txBody>
      </p:sp>
      <p:sp>
        <p:nvSpPr>
          <p:cNvPr id="12" name="Text 9"/>
          <p:cNvSpPr/>
          <p:nvPr/>
        </p:nvSpPr>
        <p:spPr>
          <a:xfrm>
            <a:off x="640080" y="47548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miscalibration (ECE) — confidence way off</a:t>
            </a:r>
            <a:endParaRPr lang="en-US" sz="13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977640"/>
            <a:ext cx="640080" cy="457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492240" y="2834640"/>
            <a:ext cx="4754880" cy="2743200"/>
          </a:xfrm>
          <a:prstGeom prst="roundRect">
            <a:avLst>
              <a:gd name="adj" fmla="val 3000"/>
            </a:avLst>
          </a:prstGeom>
          <a:solidFill>
            <a:srgbClr val="E3F1E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649224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SENTRY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492240" y="34290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</a:t>
            </a:r>
            <a:endParaRPr lang="en-US" sz="7200" dirty="0"/>
          </a:p>
        </p:txBody>
      </p:sp>
      <p:sp>
        <p:nvSpPr>
          <p:cNvPr id="17" name="Text 13"/>
          <p:cNvSpPr/>
          <p:nvPr/>
        </p:nvSpPr>
        <p:spPr>
          <a:xfrm>
            <a:off x="6492240" y="47548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now tracks reality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008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Worst-case base (vulnerability, binary). Temperature scaling restores calibration on every task (defect 0.08→0.02); overconfidence in neural nets is well documented (Guo et al., 2017).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 — ACCURACY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Defect prediction: a real gain</a:t>
            </a:r>
            <a:endParaRPr lang="en-US" sz="3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19456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7040880" y="2286000"/>
            <a:ext cx="4206240" cy="1463040"/>
          </a:xfrm>
          <a:prstGeom prst="roundRect">
            <a:avLst>
              <a:gd name="adj" fmla="val 5625"/>
            </a:avLst>
          </a:prstGeom>
          <a:solidFill>
            <a:srgbClr val="E3F1E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315200" y="26060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4481" y="2795321"/>
            <a:ext cx="444398" cy="44439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7532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Statistically significant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8275320" y="2926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McNemar, p &lt; 1e-15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7040880" y="3931920"/>
            <a:ext cx="42062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315200" y="4224528"/>
            <a:ext cx="822960" cy="8229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4481" y="4413809"/>
            <a:ext cx="444398" cy="44439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275320" y="40690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CodeImprove’s base model (+1.6 pts) — while also fixing confidence, no retraining.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 — WHERE IT WORKS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the limits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5029200" cy="3383280"/>
          </a:xfrm>
          <a:prstGeom prst="roundRect">
            <a:avLst>
              <a:gd name="adj" fmla="val 2432"/>
            </a:avLst>
          </a:prstGeom>
          <a:solidFill>
            <a:srgbClr val="E3F1E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60604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163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011680" y="2743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Works: defect prediction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005840" y="384048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separate the 4 classes (MCC ≈ 0.74).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are trustworthy — kNN adds accuracy, significantly.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126480" y="2286000"/>
            <a:ext cx="5029200" cy="3383280"/>
          </a:xfrm>
          <a:prstGeom prst="roundRect">
            <a:avLst>
              <a:gd name="adj" fmla="val 2432"/>
            </a:avLst>
          </a:prstGeom>
          <a:solidFill>
            <a:srgbClr val="F8E6E3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46520" y="260604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281635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98080" y="2743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 can’t: vulnerability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6492240" y="384048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vs safe code overlaps (MCC ≈ 0.26, ReVeal).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are noise — SENTRY falls back to calibration; accuracy preserved.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4008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helps iff the representation separates classes — the gate’s reliability signal predicts which.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PRIOR WORK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SENTRY sits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11535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2377440"/>
                <a:gridCol w="3108960"/>
                <a:gridCol w="181051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 acc.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/ calibration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CodeBERT (base)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overconfident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GraphCodeBERT (base)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overconfident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CodeImprove (ICSE’25)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not addressed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Devign SOTA (CodeT5…)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66–67%*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not addressed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SENTRY (ours)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calibrated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vulnerability task. SENTRY does not claim accuracy SOTA — it adds trust on a comparable base, and complements CodeImprove.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Strengths, limits, and next steps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468880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85" y="2647645"/>
            <a:ext cx="419710" cy="4197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00584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Training-free, model-agnostic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 (calibrated)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defect-task gain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468880"/>
            <a:ext cx="777240" cy="777240"/>
          </a:xfrm>
          <a:prstGeom prst="ellipse">
            <a:avLst/>
          </a:prstGeom>
          <a:solidFill>
            <a:srgbClr val="F8E6E3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765" y="2647645"/>
            <a:ext cx="419710" cy="4197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4068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Weaknesses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61772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tasks not yet helped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accuracy state-of-the-art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not yet measured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86384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468880"/>
            <a:ext cx="777240" cy="77724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2645" y="2647645"/>
            <a:ext cx="419710" cy="41971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05256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next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822960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gate for yes/no tasks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speed / cost savings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CodeImprove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64328" y="1371600"/>
            <a:ext cx="1463040" cy="146304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5224" y="1719072"/>
            <a:ext cx="841248" cy="8046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06324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3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confidence for code models — no retraining.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github.com/jsureka/SENTRY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Jitesh Sureka</a:t>
            </a:r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(Roll 1988)   •   Supervised by </a:t>
            </a:r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Emon Kumar Dey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SENTRY — Results &amp; Discussion</dc:title>
  <dc:subject>PptxGenJS Presentation</dc:subject>
  <dc:creator>Jitesh Sureka</dc:creator>
  <cp:lastModifiedBy>Jitesh Sureka</cp:lastModifiedBy>
  <cp:revision>1</cp:revision>
  <dcterms:created xsi:type="dcterms:W3CDTF">2026-06-21T22:23:00Z</dcterms:created>
  <dcterms:modified xsi:type="dcterms:W3CDTF">2026-06-21T22:23:00Z</dcterms:modified>
</cp:coreProperties>
</file>