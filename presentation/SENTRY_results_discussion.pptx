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9DB2B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63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2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2B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 model</c:v>
                  </c:pt>
                  <c:pt idx="1">
                    <c:v>SENTRY</c:v>
                  </c:pt>
                  <c:pt idx="2">
                    <c:v>CodeImprove
(base)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80.6</c:v>
                </c:pt>
                <c:pt idx="1">
                  <c:v>83.5</c:v>
                </c:pt>
                <c:pt idx="2">
                  <c:v>81.9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632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4"/>
          <c:min val="7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3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7168" y="1234440"/>
            <a:ext cx="1737360" cy="17373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627632"/>
            <a:ext cx="100584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4612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code-analysis AI trustworthy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training-free reliability layer for code classifiers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Jitesh Sureka</a:t>
            </a:r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(Roll 1988)</a:t>
            </a:r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    Supervised by </a:t>
            </a:r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Emon Kumar Dey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now judges our code.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trust how sure it is?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9174175" y="3017520"/>
            <a:ext cx="2011680" cy="201168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862" y="3480206"/>
            <a:ext cx="1086307" cy="10863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4023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&amp; vulnerability detectors decide what ships.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008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confidence guides those decisions — so it has to be honest.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are overconfident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announce “99% sure” — and are still wrong.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47548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154680"/>
            <a:ext cx="822960" cy="82296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401" y="3343961"/>
            <a:ext cx="444398" cy="4443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Says: 99% confident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60120" y="4297680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DBE4E8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120" y="4297680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right far less often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2834640"/>
            <a:ext cx="4846320" cy="2468880"/>
          </a:xfrm>
          <a:prstGeom prst="roundRect">
            <a:avLst>
              <a:gd name="adj" fmla="val 3333"/>
            </a:avLst>
          </a:prstGeom>
          <a:solidFill>
            <a:srgbClr val="F3F7F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3154680"/>
            <a:ext cx="822960" cy="822960"/>
          </a:xfrm>
          <a:prstGeom prst="ellipse">
            <a:avLst/>
          </a:prstGeom>
          <a:solidFill>
            <a:srgbClr val="FBEBD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81" y="3343961"/>
            <a:ext cx="444398" cy="4443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200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 intern who never says “I’m not sure.”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17220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doesn’t track reality is worse than no confidence at all.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+ wrong = risky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60604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8163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Misses real bugs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60120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waved through with high confidence reaches production.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51960" y="22860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60604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81635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alarms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4572000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Crying wolf on safe code wastes review time and erodes trust.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863840" y="22860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81635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8388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pipelines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8183880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acts on the score. A wrong-but-confident score acts too.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do today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51460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72491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611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models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6012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/ GraphCodeBERT. Strong accuracy — but overconfident.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51960" y="219456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51460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72491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3611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57200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Capable, but costly at scale and still poorly calibrated.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863840" y="219456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83880" y="251460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72491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83880" y="3611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CodeImprove (ICSE’25)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18388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INPUT: detect odd code, rewrite it. No retraining.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piece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1280160" cy="128016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2763317"/>
            <a:ext cx="691286" cy="6912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makes the model’s confidence trustworthy —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4008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</a:t>
            </a:r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retraining</a:t>
            </a:r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model.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4008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gap SENTRY fills.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1371600" cy="13716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75688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77440" y="1783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37744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reliability layer you bolt onto any trained model.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4224528"/>
            <a:ext cx="777240" cy="777240"/>
          </a:xfrm>
          <a:prstGeom prst="ellipse">
            <a:avLst/>
          </a:prstGeom>
          <a:solidFill>
            <a:srgbClr val="E3F1E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" y="4403293"/>
            <a:ext cx="419710" cy="4197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3931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251960" y="39319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26280" y="4224528"/>
            <a:ext cx="777240" cy="777240"/>
          </a:xfrm>
          <a:prstGeom prst="ellipse">
            <a:avLst/>
          </a:prstGeom>
          <a:solidFill>
            <a:srgbClr val="E3F1E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045" y="4403293"/>
            <a:ext cx="419710" cy="4197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931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model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863840" y="39319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138160" y="4224528"/>
            <a:ext cx="777240" cy="777240"/>
          </a:xfrm>
          <a:prstGeom prst="ellipse">
            <a:avLst/>
          </a:prstGeom>
          <a:solidFill>
            <a:srgbClr val="E3F1E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925" y="4403293"/>
            <a:ext cx="419710" cy="4197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52560" y="3931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 is a guard at the gate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1828800" cy="18288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889504"/>
            <a:ext cx="987552" cy="9875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08960" y="2468880"/>
            <a:ext cx="7315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37560" y="2761488"/>
            <a:ext cx="822960" cy="822960"/>
          </a:xfrm>
          <a:prstGeom prst="ellipse">
            <a:avLst/>
          </a:prstGeom>
          <a:solidFill>
            <a:srgbClr val="E3F1E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41" y="2950769"/>
            <a:ext cx="444398" cy="4443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4340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prediction?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343400" y="31272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it straight through.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108960" y="4069080"/>
            <a:ext cx="7315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337560" y="4361688"/>
            <a:ext cx="822960" cy="82296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841" y="4550969"/>
            <a:ext cx="444398" cy="4443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Unsure?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4343400" y="47274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against memory of similar past code.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 1 /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SENTRY works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05840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783080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30" y="3140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952848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3F7F9"/>
          </a:solidFill>
          <a:ln w="15875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30088" y="297180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314005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2848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99855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3F7F9"/>
          </a:solidFill>
          <a:ln w="15875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77095" y="297180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345" y="314005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99855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37560" y="3456432"/>
            <a:ext cx="640080" cy="31089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1" name="Shape 15"/>
          <p:cNvSpPr/>
          <p:nvPr/>
        </p:nvSpPr>
        <p:spPr>
          <a:xfrm>
            <a:off x="7284568" y="3456432"/>
            <a:ext cx="640080" cy="31089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2" name="Shape 16"/>
          <p:cNvSpPr/>
          <p:nvPr/>
        </p:nvSpPr>
        <p:spPr>
          <a:xfrm>
            <a:off x="1371600" y="30632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3172968"/>
            <a:ext cx="292608" cy="29260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554480" y="3630168"/>
            <a:ext cx="1188720" cy="73152"/>
          </a:xfrm>
          <a:prstGeom prst="rect">
            <a:avLst/>
          </a:prstGeom>
          <a:solidFill>
            <a:srgbClr val="DBE4E8"/>
          </a:solidFill>
          <a:ln/>
        </p:spPr>
      </p:sp>
      <p:sp>
        <p:nvSpPr>
          <p:cNvPr id="25" name="Shape 18"/>
          <p:cNvSpPr/>
          <p:nvPr/>
        </p:nvSpPr>
        <p:spPr>
          <a:xfrm>
            <a:off x="1554480" y="3776472"/>
            <a:ext cx="914400" cy="73152"/>
          </a:xfrm>
          <a:prstGeom prst="rect">
            <a:avLst/>
          </a:prstGeom>
          <a:solidFill>
            <a:srgbClr val="DBE4E8"/>
          </a:solidFill>
          <a:ln/>
        </p:spPr>
      </p:sp>
      <p:sp>
        <p:nvSpPr>
          <p:cNvPr id="26" name="Shape 19"/>
          <p:cNvSpPr/>
          <p:nvPr/>
        </p:nvSpPr>
        <p:spPr>
          <a:xfrm>
            <a:off x="1554480" y="3922776"/>
            <a:ext cx="1097280" cy="73152"/>
          </a:xfrm>
          <a:prstGeom prst="rect">
            <a:avLst/>
          </a:prstGeom>
          <a:solidFill>
            <a:srgbClr val="DBE4E8"/>
          </a:solidFill>
          <a:ln/>
        </p:spPr>
      </p:sp>
      <p:sp>
        <p:nvSpPr>
          <p:cNvPr id="27" name="Text 20"/>
          <p:cNvSpPr/>
          <p:nvPr/>
        </p:nvSpPr>
        <p:spPr>
          <a:xfrm>
            <a:off x="6400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snippet arrives.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 2 /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SENTRY works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05840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3F7F9"/>
          </a:solidFill>
          <a:ln w="15875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783080" y="2971800"/>
            <a:ext cx="731520" cy="73152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30" y="3140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952848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30088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314005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2848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99855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77095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345" y="314005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99855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37560" y="3456432"/>
            <a:ext cx="640080" cy="31089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1" name="Shape 15"/>
          <p:cNvSpPr/>
          <p:nvPr/>
        </p:nvSpPr>
        <p:spPr>
          <a:xfrm>
            <a:off x="7284568" y="3456432"/>
            <a:ext cx="640080" cy="31089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2" name="Shape 16"/>
          <p:cNvSpPr/>
          <p:nvPr/>
        </p:nvSpPr>
        <p:spPr>
          <a:xfrm>
            <a:off x="5318608" y="30632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336" y="3172968"/>
            <a:ext cx="292608" cy="29260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501488" y="3630168"/>
            <a:ext cx="1188720" cy="73152"/>
          </a:xfrm>
          <a:prstGeom prst="rect">
            <a:avLst/>
          </a:prstGeom>
          <a:solidFill>
            <a:srgbClr val="DBE4E8"/>
          </a:solidFill>
          <a:ln/>
        </p:spPr>
      </p:sp>
      <p:sp>
        <p:nvSpPr>
          <p:cNvPr id="25" name="Shape 18"/>
          <p:cNvSpPr/>
          <p:nvPr/>
        </p:nvSpPr>
        <p:spPr>
          <a:xfrm>
            <a:off x="5501488" y="3776472"/>
            <a:ext cx="914400" cy="73152"/>
          </a:xfrm>
          <a:prstGeom prst="rect">
            <a:avLst/>
          </a:prstGeom>
          <a:solidFill>
            <a:srgbClr val="DBE4E8"/>
          </a:solidFill>
          <a:ln/>
        </p:spPr>
      </p:sp>
      <p:sp>
        <p:nvSpPr>
          <p:cNvPr id="26" name="Shape 19"/>
          <p:cNvSpPr/>
          <p:nvPr/>
        </p:nvSpPr>
        <p:spPr>
          <a:xfrm>
            <a:off x="5501488" y="3922776"/>
            <a:ext cx="1097280" cy="73152"/>
          </a:xfrm>
          <a:prstGeom prst="rect">
            <a:avLst/>
          </a:prstGeom>
          <a:solidFill>
            <a:srgbClr val="DBE4E8"/>
          </a:solidFill>
          <a:ln/>
        </p:spPr>
      </p:sp>
      <p:sp>
        <p:nvSpPr>
          <p:cNvPr id="27" name="Text 20"/>
          <p:cNvSpPr/>
          <p:nvPr/>
        </p:nvSpPr>
        <p:spPr>
          <a:xfrm>
            <a:off x="8899855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128455" y="486460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DBE4E8"/>
          </a:solidFill>
          <a:ln/>
        </p:spPr>
      </p:sp>
      <p:sp>
        <p:nvSpPr>
          <p:cNvPr id="29" name="Shape 22"/>
          <p:cNvSpPr/>
          <p:nvPr/>
        </p:nvSpPr>
        <p:spPr>
          <a:xfrm>
            <a:off x="9128455" y="486460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and reports how sure it is.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 3 /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SENTRY works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05840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783080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30" y="3140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37560" y="2743200"/>
            <a:ext cx="640080" cy="310896"/>
          </a:xfrm>
          <a:prstGeom prst="rightArrow">
            <a:avLst/>
          </a:prstGeom>
          <a:solidFill>
            <a:srgbClr val="2E8B57"/>
          </a:solidFill>
          <a:ln/>
        </p:spPr>
      </p:sp>
      <p:sp>
        <p:nvSpPr>
          <p:cNvPr id="13" name="Text 9"/>
          <p:cNvSpPr/>
          <p:nvPr/>
        </p:nvSpPr>
        <p:spPr>
          <a:xfrm>
            <a:off x="32004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 → pass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920240" y="4526280"/>
            <a:ext cx="310896" cy="548640"/>
          </a:xfrm>
          <a:prstGeom prst="downArrow">
            <a:avLst/>
          </a:prstGeom>
          <a:solidFill>
            <a:srgbClr val="B7791F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↓ check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899855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77095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5345" y="31400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99855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61408" y="534924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DCEEF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90008" y="5532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773" y="5710885"/>
            <a:ext cx="419710" cy="4197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12968" y="5440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of similar code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2057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gate: confident cases pass; unsure cases get a second opinion.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 4 /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SENTRY works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05840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783080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30" y="3140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vote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952848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30088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314005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2848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+ calibrate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99855" y="2743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77095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345" y="314005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99855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output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37560" y="3456432"/>
            <a:ext cx="640080" cy="31089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1" name="Shape 15"/>
          <p:cNvSpPr/>
          <p:nvPr/>
        </p:nvSpPr>
        <p:spPr>
          <a:xfrm>
            <a:off x="7284568" y="3456432"/>
            <a:ext cx="640080" cy="31089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2" name="Text 16"/>
          <p:cNvSpPr/>
          <p:nvPr/>
        </p:nvSpPr>
        <p:spPr>
          <a:xfrm>
            <a:off x="8899855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128455" y="486460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DBE4E8"/>
          </a:solidFill>
          <a:ln/>
        </p:spPr>
      </p:sp>
      <p:sp>
        <p:nvSpPr>
          <p:cNvPr id="24" name="Shape 18"/>
          <p:cNvSpPr/>
          <p:nvPr/>
        </p:nvSpPr>
        <p:spPr>
          <a:xfrm>
            <a:off x="9128455" y="4864608"/>
            <a:ext cx="1078992" cy="237744"/>
          </a:xfrm>
          <a:prstGeom prst="roundRect">
            <a:avLst>
              <a:gd name="adj" fmla="val 19231"/>
            </a:avLst>
          </a:prstGeom>
          <a:solidFill>
            <a:srgbClr val="2E8B57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vote, results blend, confidence is recalibrated.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asked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60604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8163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60120" y="4160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models trustworthy out of the box?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51960" y="22860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60604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81635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572000" y="4160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training-free layer improve them?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863840" y="22860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81635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8388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8183880" y="4160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work — and when not?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CALIBRATION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Overconfidence is real — and fixable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</a:t>
            </a:r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often right.   </a:t>
            </a:r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</a:t>
            </a:r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does “90% sure” mean right 90% of the time.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F8E6E3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429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640080" y="4754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miscalibration (ECE) — confidence way off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977640"/>
            <a:ext cx="64008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2834640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E3F1E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9224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SENTRY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92240" y="3429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</a:t>
            </a:r>
            <a:endParaRPr lang="en-US" sz="7200" dirty="0"/>
          </a:p>
        </p:txBody>
      </p:sp>
      <p:sp>
        <p:nvSpPr>
          <p:cNvPr id="17" name="Text 13"/>
          <p:cNvSpPr/>
          <p:nvPr/>
        </p:nvSpPr>
        <p:spPr>
          <a:xfrm>
            <a:off x="6492240" y="4754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now tracks reality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base (vulnerability, binary). Temperature scaling restores calibration on every task (defect 0.08→0.02); overconfidence in neural nets is well documented (Guo et al., 2017).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ACCURACY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prediction: a real gain</a:t>
            </a:r>
            <a:endParaRPr lang="en-US" sz="3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19456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040880" y="2286000"/>
            <a:ext cx="4206240" cy="1463040"/>
          </a:xfrm>
          <a:prstGeom prst="roundRect">
            <a:avLst>
              <a:gd name="adj" fmla="val 5625"/>
            </a:avLst>
          </a:prstGeom>
          <a:solidFill>
            <a:srgbClr val="E3F1E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481" y="2795321"/>
            <a:ext cx="444398" cy="4443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532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Statistically significant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753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McNemar, p &lt; 1e-15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040880" y="3931920"/>
            <a:ext cx="4206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0" y="4224528"/>
            <a:ext cx="822960" cy="82296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481" y="4413809"/>
            <a:ext cx="444398" cy="4443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75320" y="4069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CodeImprove’s base model (+1.6 pts) — while also fixing confidence, no retraining.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WHERE IT WORKS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the limits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029200" cy="3383280"/>
          </a:xfrm>
          <a:prstGeom prst="roundRect">
            <a:avLst>
              <a:gd name="adj" fmla="val 2432"/>
            </a:avLst>
          </a:prstGeom>
          <a:solidFill>
            <a:srgbClr val="E3F1E9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8163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Works: defect prediction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005840" y="38404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separate the 4 classes (MCC ≈ 0.74).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are trustworthy — kNN adds accuracy, significantly.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26480" y="2286000"/>
            <a:ext cx="5029200" cy="3383280"/>
          </a:xfrm>
          <a:prstGeom prst="roundRect">
            <a:avLst>
              <a:gd name="adj" fmla="val 2432"/>
            </a:avLst>
          </a:prstGeom>
          <a:solidFill>
            <a:srgbClr val="F8E6E3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81635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can’t: vulnerability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492240" y="38404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vs safe code overlaps (MCC ≈ 0.26, ReVeal).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are noise — SENTRY falls back to calibration; accuracy preserved.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helps iff the embedding separates classes — multiclass AND binary clone detection; it fails on vulnerability (unlearnable). The axis is separability, not binary-vs-multiclass.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PRIOR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SENTRY sits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11535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2377440"/>
                <a:gridCol w="3108960"/>
                <a:gridCol w="181051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acc.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/ calibration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CodeBERT (base)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overconfident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GraphCodeBERT (base)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overconfident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CodeImprove (ICSE’25)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not addressed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Devign SOTA (CodeT5…)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66–67%*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not addressed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calibrated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vulnerability task. SENTRY adds calibration and reliability-gated accuracy on a comparable base — complementary to post-hoc calibration (incl. kNN-UE, NAACL’25) and to input-side CodeImprove.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94015" y="420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Strengths, limits, and next steps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3383280" cy="36576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E3F1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85" y="2647645"/>
            <a:ext cx="419710" cy="4197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05840" y="34290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calibration together, no retraining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defect gain (McNemar p=4e-6)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datasets × 4 encoders; clone control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51960" y="2194560"/>
            <a:ext cx="3383280" cy="36576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468880"/>
            <a:ext cx="777240" cy="777240"/>
          </a:xfrm>
          <a:prstGeom prst="ellipse">
            <a:avLst/>
          </a:prstGeom>
          <a:solidFill>
            <a:srgbClr val="F8E6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65" y="2647645"/>
            <a:ext cx="419710" cy="4197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617720" y="34290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can’t help non-separable tasks (vuln)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 seen post-hoc, not predicted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= representability ceiling (data)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863840" y="2194560"/>
            <a:ext cx="3383280" cy="36576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83880" y="2468880"/>
            <a:ext cx="777240" cy="777240"/>
          </a:xfrm>
          <a:prstGeom prst="ellipse">
            <a:avLst/>
          </a:prstGeom>
          <a:solidFill>
            <a:srgbClr val="DCEE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645" y="2647645"/>
            <a:ext cx="419710" cy="4197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229600" y="34290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Auto-gate from the separability signal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uncertainty estimators (kNN-UE)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tasks; combine with CodeImprove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1371600"/>
            <a:ext cx="1463040" cy="14630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9AA9B2">
                <a:alpha val="2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5224" y="1719072"/>
            <a:ext cx="841248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632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confidence for code models — no retraining.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github.com/jsureka/SENTRY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Jitesh Sureka</a:t>
            </a:r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(Roll 1988)   •   Supervised by </a:t>
            </a:r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Emon Kumar Dey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SENTRY — Results &amp; Discussion</dc:title>
  <dc:subject>PptxGenJS Presentation</dc:subject>
  <dc:creator>Jitesh Sureka</dc:creator>
  <cp:lastModifiedBy>Jitesh Sureka</cp:lastModifiedBy>
  <cp:revision>1</cp:revision>
  <dcterms:created xsi:type="dcterms:W3CDTF">2026-06-26T11:20:55Z</dcterms:created>
  <dcterms:modified xsi:type="dcterms:W3CDTF">2026-06-26T11:20:55Z</dcterms:modified>
</cp:coreProperties>
</file>