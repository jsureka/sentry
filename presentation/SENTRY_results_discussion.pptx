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9DB2B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6324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DB2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DB2B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Base model</c:v>
                  </c:pt>
                  <c:pt idx="1">
                    <c:v>SENTRY</c:v>
                  </c:pt>
                  <c:pt idx="2">
                    <c:v>CodeImprove
(base)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80.6</c:v>
                </c:pt>
                <c:pt idx="1">
                  <c:v>83.5</c:v>
                </c:pt>
                <c:pt idx="2">
                  <c:v>81.9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6324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414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4"/>
          <c:min val="7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3F7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9-1.png"/><Relationship Id="rId3" Type="http://schemas.openxmlformats.org/officeDocument/2006/relationships/image" Target="../media/image-19-2.png"/><Relationship Id="rId4" Type="http://schemas.openxmlformats.org/officeDocument/2006/relationships/image" Target="../media/image-1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27168" y="1234440"/>
            <a:ext cx="1737360" cy="173736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2928" y="1627632"/>
            <a:ext cx="1005840" cy="9601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46120"/>
            <a:ext cx="12191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4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0" y="416052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code-analysis AI trustworthy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0" y="461772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training-free reliability layer for code classifiers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0" y="5806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Jitesh Sureka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(Roll 1988)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•     Supervised by </a:t>
            </a:r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Emon Kumar Dey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now judges our code.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40080" y="23774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trust how sure it is?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9174175" y="3017520"/>
            <a:ext cx="2011680" cy="201168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6862" y="3480206"/>
            <a:ext cx="1086307" cy="108630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0080" y="40233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&amp; vulnerability detectors decide what ships.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0080" y="45262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confidence guides those decisions — so it has to be honest.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are overconfident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2057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announce “99% sure” — and are still wrong.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475488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3154680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401" y="3343961"/>
            <a:ext cx="444398" cy="44439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965960" y="32461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Says: 99% confident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960120" y="4297680"/>
            <a:ext cx="4114800" cy="310896"/>
          </a:xfrm>
          <a:prstGeom prst="roundRect">
            <a:avLst>
              <a:gd name="adj" fmla="val 14706"/>
            </a:avLst>
          </a:prstGeom>
          <a:solidFill>
            <a:srgbClr val="DBE4E8"/>
          </a:solidFill>
          <a:ln/>
        </p:spPr>
      </p:sp>
      <p:sp>
        <p:nvSpPr>
          <p:cNvPr id="14" name="Shape 10"/>
          <p:cNvSpPr/>
          <p:nvPr/>
        </p:nvSpPr>
        <p:spPr>
          <a:xfrm>
            <a:off x="960120" y="4297680"/>
            <a:ext cx="4069080" cy="310896"/>
          </a:xfrm>
          <a:prstGeom prst="roundRect">
            <a:avLst>
              <a:gd name="adj" fmla="val 14706"/>
            </a:avLst>
          </a:prstGeom>
          <a:solidFill>
            <a:srgbClr val="C0392B"/>
          </a:solidFill>
          <a:ln/>
        </p:spPr>
      </p:sp>
      <p:sp>
        <p:nvSpPr>
          <p:cNvPr id="15" name="Text 11"/>
          <p:cNvSpPr/>
          <p:nvPr/>
        </p:nvSpPr>
        <p:spPr>
          <a:xfrm>
            <a:off x="960120" y="47091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right far less often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852160" y="2834640"/>
            <a:ext cx="4846320" cy="2468880"/>
          </a:xfrm>
          <a:prstGeom prst="roundRect">
            <a:avLst>
              <a:gd name="adj" fmla="val 3333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72200" y="3154680"/>
            <a:ext cx="822960" cy="822960"/>
          </a:xfrm>
          <a:prstGeom prst="ellipse">
            <a:avLst/>
          </a:prstGeom>
          <a:solidFill>
            <a:srgbClr val="FBEBD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1481" y="3343961"/>
            <a:ext cx="444398" cy="44439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178040" y="32004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an intern who never says “I’m not sure.”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6172200" y="4343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that doesn’t track reality is worse than no confidence at all.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“calibrated” mean?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37744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67187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7744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weather app says “90% chance of rain.”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“calibrated” mean?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37744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67187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7744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weather app says “90% chance of rain.”</a:t>
            </a:r>
            <a:endParaRPr lang="en-US" sz="2300" dirty="0"/>
          </a:p>
        </p:txBody>
      </p:sp>
      <p:sp>
        <p:nvSpPr>
          <p:cNvPr id="11" name="Text 7"/>
          <p:cNvSpPr/>
          <p:nvPr/>
        </p:nvSpPr>
        <p:spPr>
          <a:xfrm>
            <a:off x="640080" y="3886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Calibrated: on those days it really does rain about 9 times in 10.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“calibrated” mean?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37744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67187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7744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weather app says “90% chance of rain.”</a:t>
            </a:r>
            <a:endParaRPr lang="en-US" sz="2300" dirty="0"/>
          </a:p>
        </p:txBody>
      </p:sp>
      <p:sp>
        <p:nvSpPr>
          <p:cNvPr id="11" name="Text 7"/>
          <p:cNvSpPr/>
          <p:nvPr/>
        </p:nvSpPr>
        <p:spPr>
          <a:xfrm>
            <a:off x="640080" y="3886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Calibrated: on those days it really does rain about 9 times in 10.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40080" y="4572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models say “90% sure” and are right far less often — confidently wrong.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does “calibrated” mean?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37744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67187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77440" y="2514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weather app says “90% chance of rain.”</a:t>
            </a:r>
            <a:endParaRPr lang="en-US" sz="2300" dirty="0"/>
          </a:p>
        </p:txBody>
      </p:sp>
      <p:sp>
        <p:nvSpPr>
          <p:cNvPr id="11" name="Text 7"/>
          <p:cNvSpPr/>
          <p:nvPr/>
        </p:nvSpPr>
        <p:spPr>
          <a:xfrm>
            <a:off x="640080" y="3886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Calibrated: on those days it really does rain about 9 times in 10.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40080" y="4572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models say “90% sure” and are right far less often — confidently wrong.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40080" y="5440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(temperature scaling, standard since Guo 2017) fixes this. We apply it — then go further by also improving accuracy.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 + wrong = risky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Misses real bugs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96012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defect waved through with high confidence reaches production.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 alarms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457200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Crying wolf on safe code wastes review time and erodes trust.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286000"/>
            <a:ext cx="338328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81635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pipelines</a:t>
            </a:r>
            <a:endParaRPr lang="en-US" sz="1900" dirty="0"/>
          </a:p>
        </p:txBody>
      </p:sp>
      <p:sp>
        <p:nvSpPr>
          <p:cNvPr id="22" name="Text 16"/>
          <p:cNvSpPr/>
          <p:nvPr/>
        </p:nvSpPr>
        <p:spPr>
          <a:xfrm>
            <a:off x="8183880" y="41605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acts on the score. A wrong-but-confident score acts too.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people do today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72491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Fine-tuned models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6012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CodeBERT / GraphCodeBERT. Strong accuracy — but overconfident.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72491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language models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57200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Capable, but costly at scale and still poorly calibrated.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19456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51460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72491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1188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CodeImprove (ICSE’25)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8183880" y="420624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the INPUT: detect odd code, rewrite it. No retraining.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missing piece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1280160" cy="12801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517" y="2763317"/>
            <a:ext cx="691286" cy="69128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0080" y="4023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one makes the model’s confidence trustworthy —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40080" y="4617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</a:t>
            </a:r>
            <a:pPr indent="0" marL="0">
              <a:buNone/>
            </a:pPr>
            <a:r>
              <a:rPr lang="en-US" sz="2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retraining</a:t>
            </a:r>
            <a:pPr indent="0" marL="0">
              <a:buNone/>
            </a:pPr>
            <a:r>
              <a:rPr lang="en-US" sz="2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model.</a:t>
            </a:r>
            <a:endParaRPr lang="en-US" sz="2600" dirty="0"/>
          </a:p>
        </p:txBody>
      </p:sp>
      <p:sp>
        <p:nvSpPr>
          <p:cNvPr id="12" name="Text 8"/>
          <p:cNvSpPr/>
          <p:nvPr/>
        </p:nvSpPr>
        <p:spPr>
          <a:xfrm>
            <a:off x="640080" y="5440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gap SENTRY fills.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IDEA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1371600" cy="137160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" y="2075688"/>
            <a:ext cx="603504" cy="6035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377440" y="17830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237744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reliability layer you bolt onto any trained model.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4008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91440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65" y="4403293"/>
            <a:ext cx="419710" cy="41971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82880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retraining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425196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52628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045" y="4403293"/>
            <a:ext cx="419710" cy="4197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4068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any model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7863840" y="3931920"/>
            <a:ext cx="3383280" cy="1371600"/>
          </a:xfrm>
          <a:prstGeom prst="roundRect">
            <a:avLst>
              <a:gd name="adj" fmla="val 6000"/>
            </a:avLst>
          </a:prstGeom>
          <a:solidFill>
            <a:srgbClr val="F3F7F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8138160" y="4224528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6925" y="4403293"/>
            <a:ext cx="419710" cy="41971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9052560" y="393192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PLAIN WORDS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 is a guard at the gate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1828800" cy="18288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889504"/>
            <a:ext cx="987552" cy="9875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108960" y="2468880"/>
            <a:ext cx="73152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337560" y="2761488"/>
            <a:ext cx="822960" cy="82296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841" y="2950769"/>
            <a:ext cx="444398" cy="44439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343400" y="26517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 prediction?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4343400" y="312724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it straight through.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3108960" y="4069080"/>
            <a:ext cx="731520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3337560" y="4361688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6841" y="4550969"/>
            <a:ext cx="444398" cy="44439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343400" y="425196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Unsure?</a:t>
            </a:r>
            <a:endParaRPr lang="en-US" sz="1900" dirty="0"/>
          </a:p>
        </p:txBody>
      </p:sp>
      <p:sp>
        <p:nvSpPr>
          <p:cNvPr id="19" name="Text 13"/>
          <p:cNvSpPr/>
          <p:nvPr/>
        </p:nvSpPr>
        <p:spPr>
          <a:xfrm>
            <a:off x="4343400" y="472744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Double-check against memory of similar past code.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1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Shape 16"/>
          <p:cNvSpPr/>
          <p:nvPr/>
        </p:nvSpPr>
        <p:spPr>
          <a:xfrm>
            <a:off x="1371600" y="306324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1328" y="3172968"/>
            <a:ext cx="292608" cy="29260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554480" y="3630168"/>
            <a:ext cx="118872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5" name="Shape 18"/>
          <p:cNvSpPr/>
          <p:nvPr/>
        </p:nvSpPr>
        <p:spPr>
          <a:xfrm>
            <a:off x="1554480" y="3776472"/>
            <a:ext cx="91440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6" name="Shape 19"/>
          <p:cNvSpPr/>
          <p:nvPr/>
        </p:nvSpPr>
        <p:spPr>
          <a:xfrm>
            <a:off x="1554480" y="3922776"/>
            <a:ext cx="109728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7" name="Text 20"/>
          <p:cNvSpPr/>
          <p:nvPr/>
        </p:nvSpPr>
        <p:spPr>
          <a:xfrm>
            <a:off x="640080" y="4937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code snippet arrives.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2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F3F7F9"/>
          </a:solidFill>
          <a:ln w="15875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in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model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Shape 16"/>
          <p:cNvSpPr/>
          <p:nvPr/>
        </p:nvSpPr>
        <p:spPr>
          <a:xfrm>
            <a:off x="5318608" y="306324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28336" y="3172968"/>
            <a:ext cx="292608" cy="29260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5501488" y="3630168"/>
            <a:ext cx="118872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5" name="Shape 18"/>
          <p:cNvSpPr/>
          <p:nvPr/>
        </p:nvSpPr>
        <p:spPr>
          <a:xfrm>
            <a:off x="5501488" y="3776472"/>
            <a:ext cx="91440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6" name="Shape 19"/>
          <p:cNvSpPr/>
          <p:nvPr/>
        </p:nvSpPr>
        <p:spPr>
          <a:xfrm>
            <a:off x="5501488" y="3922776"/>
            <a:ext cx="1097280" cy="73152"/>
          </a:xfrm>
          <a:prstGeom prst="rect">
            <a:avLst/>
          </a:prstGeom>
          <a:solidFill>
            <a:srgbClr val="DBE4E8"/>
          </a:solidFill>
          <a:ln/>
        </p:spPr>
      </p:sp>
      <p:sp>
        <p:nvSpPr>
          <p:cNvPr id="27" name="Text 20"/>
          <p:cNvSpPr/>
          <p:nvPr/>
        </p:nvSpPr>
        <p:spPr>
          <a:xfrm>
            <a:off x="8899855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9128455" y="4864608"/>
            <a:ext cx="1828800" cy="237744"/>
          </a:xfrm>
          <a:prstGeom prst="roundRect">
            <a:avLst>
              <a:gd name="adj" fmla="val 19231"/>
            </a:avLst>
          </a:prstGeom>
          <a:solidFill>
            <a:srgbClr val="DBE4E8"/>
          </a:solidFill>
          <a:ln/>
        </p:spPr>
      </p:sp>
      <p:sp>
        <p:nvSpPr>
          <p:cNvPr id="29" name="Shape 22"/>
          <p:cNvSpPr/>
          <p:nvPr/>
        </p:nvSpPr>
        <p:spPr>
          <a:xfrm>
            <a:off x="9128455" y="4864608"/>
            <a:ext cx="1371600" cy="237744"/>
          </a:xfrm>
          <a:prstGeom prst="roundRect">
            <a:avLst>
              <a:gd name="adj" fmla="val 19231"/>
            </a:avLst>
          </a:prstGeom>
          <a:solidFill>
            <a:srgbClr val="028090"/>
          </a:solidFill>
          <a:ln/>
        </p:spPr>
      </p:sp>
      <p:sp>
        <p:nvSpPr>
          <p:cNvPr id="30" name="Text 23"/>
          <p:cNvSpPr/>
          <p:nvPr/>
        </p:nvSpPr>
        <p:spPr>
          <a:xfrm>
            <a:off x="64008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predicts and reports how sure it is.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3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Confident?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37560" y="2743200"/>
            <a:ext cx="640080" cy="310896"/>
          </a:xfrm>
          <a:prstGeom prst="rightArrow">
            <a:avLst/>
          </a:prstGeom>
          <a:solidFill>
            <a:srgbClr val="2E8B57"/>
          </a:solidFill>
          <a:ln/>
        </p:spPr>
      </p:sp>
      <p:sp>
        <p:nvSpPr>
          <p:cNvPr id="13" name="Text 9"/>
          <p:cNvSpPr/>
          <p:nvPr/>
        </p:nvSpPr>
        <p:spPr>
          <a:xfrm>
            <a:off x="320040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Sure → pass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920240" y="4526280"/>
            <a:ext cx="310896" cy="548640"/>
          </a:xfrm>
          <a:prstGeom prst="downArrow">
            <a:avLst/>
          </a:prstGeom>
          <a:solidFill>
            <a:srgbClr val="B7791F"/>
          </a:solidFill>
          <a:ln/>
        </p:spPr>
      </p:sp>
      <p:sp>
        <p:nvSpPr>
          <p:cNvPr id="15" name="Text 11"/>
          <p:cNvSpPr/>
          <p:nvPr/>
        </p:nvSpPr>
        <p:spPr>
          <a:xfrm>
            <a:off x="914400" y="5074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77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Unsure ↓ check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4861408" y="5349240"/>
            <a:ext cx="2743200" cy="1143000"/>
          </a:xfrm>
          <a:prstGeom prst="roundRect">
            <a:avLst>
              <a:gd name="adj" fmla="val 8000"/>
            </a:avLst>
          </a:prstGeom>
          <a:solidFill>
            <a:srgbClr val="DCEEF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090008" y="553212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8773" y="5710885"/>
            <a:ext cx="419710" cy="41971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912968" y="5440680"/>
            <a:ext cx="1691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of similar code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40080" y="20574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gate: confident cases pass; unsure cases get a second opinion.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  4 / 4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SENTRY works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1005840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783080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1330" y="3140050"/>
            <a:ext cx="395021" cy="39502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vote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952848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730088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8337" y="3140050"/>
            <a:ext cx="395021" cy="395021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52848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+ calibrate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899855" y="2743200"/>
            <a:ext cx="2286000" cy="1737360"/>
          </a:xfrm>
          <a:prstGeom prst="roundRect">
            <a:avLst>
              <a:gd name="adj" fmla="val 5263"/>
            </a:avLst>
          </a:prstGeom>
          <a:solidFill>
            <a:srgbClr val="028090"/>
          </a:solidFill>
          <a:ln w="15875">
            <a:solidFill>
              <a:srgbClr val="028090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677095" y="2971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45345" y="3140050"/>
            <a:ext cx="395021" cy="395021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899855" y="37947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output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337560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1" name="Shape 15"/>
          <p:cNvSpPr/>
          <p:nvPr/>
        </p:nvSpPr>
        <p:spPr>
          <a:xfrm>
            <a:off x="7284568" y="3456432"/>
            <a:ext cx="640080" cy="310896"/>
          </a:xfrm>
          <a:prstGeom prst="rightArrow">
            <a:avLst/>
          </a:prstGeom>
          <a:solidFill>
            <a:srgbClr val="028090"/>
          </a:solidFill>
          <a:ln/>
        </p:spPr>
      </p:sp>
      <p:sp>
        <p:nvSpPr>
          <p:cNvPr id="22" name="Text 16"/>
          <p:cNvSpPr/>
          <p:nvPr/>
        </p:nvSpPr>
        <p:spPr>
          <a:xfrm>
            <a:off x="8899855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9128455" y="4864608"/>
            <a:ext cx="1828800" cy="237744"/>
          </a:xfrm>
          <a:prstGeom prst="roundRect">
            <a:avLst>
              <a:gd name="adj" fmla="val 19231"/>
            </a:avLst>
          </a:prstGeom>
          <a:solidFill>
            <a:srgbClr val="DBE4E8"/>
          </a:solidFill>
          <a:ln/>
        </p:spPr>
      </p:sp>
      <p:sp>
        <p:nvSpPr>
          <p:cNvPr id="24" name="Shape 18"/>
          <p:cNvSpPr/>
          <p:nvPr/>
        </p:nvSpPr>
        <p:spPr>
          <a:xfrm>
            <a:off x="9128455" y="4864608"/>
            <a:ext cx="1078992" cy="237744"/>
          </a:xfrm>
          <a:prstGeom prst="roundRect">
            <a:avLst>
              <a:gd name="adj" fmla="val 19231"/>
            </a:avLst>
          </a:prstGeom>
          <a:solidFill>
            <a:srgbClr val="2E8B57"/>
          </a:solidFill>
          <a:ln/>
        </p:spPr>
      </p:sp>
      <p:sp>
        <p:nvSpPr>
          <p:cNvPr id="25" name="Text 19"/>
          <p:cNvSpPr/>
          <p:nvPr/>
        </p:nvSpPr>
        <p:spPr>
          <a:xfrm>
            <a:off x="64008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vote, results blend, confidence is recalibrated.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asked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RQ1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96012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models trustworthy out of the box?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25196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31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7200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RQ2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457200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training-free layer improve them?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7863840" y="2286000"/>
            <a:ext cx="338328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606040"/>
            <a:ext cx="914400" cy="91440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4192" y="2816352"/>
            <a:ext cx="493776" cy="493776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18388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RQ3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8183880" y="416052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does it work — and when not?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 — CALIBRATION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Overconfidence is real — and fixable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20116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</a:t>
            </a:r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how often right.   </a:t>
            </a:r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</a:t>
            </a:r>
            <a:pPr indent="0" marL="0">
              <a:buNone/>
            </a:pPr>
            <a:r>
              <a:rPr lang="en-US" sz="16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does “90% sure” mean right 90% of the time.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40080" y="2834640"/>
            <a:ext cx="4754880" cy="2743200"/>
          </a:xfrm>
          <a:prstGeom prst="roundRect">
            <a:avLst>
              <a:gd name="adj" fmla="val 3000"/>
            </a:avLst>
          </a:prstGeom>
          <a:solidFill>
            <a:srgbClr val="F8E6E3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3429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0.23</a:t>
            </a:r>
            <a:endParaRPr lang="en-US" sz="7200" dirty="0"/>
          </a:p>
        </p:txBody>
      </p:sp>
      <p:sp>
        <p:nvSpPr>
          <p:cNvPr id="12" name="Text 9"/>
          <p:cNvSpPr/>
          <p:nvPr/>
        </p:nvSpPr>
        <p:spPr>
          <a:xfrm>
            <a:off x="640080" y="47548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miscalibration (ECE) — confidence way off</a:t>
            </a:r>
            <a:endParaRPr lang="en-US" sz="13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977640"/>
            <a:ext cx="640080" cy="457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492240" y="2834640"/>
            <a:ext cx="4754880" cy="2743200"/>
          </a:xfrm>
          <a:prstGeom prst="roundRect">
            <a:avLst>
              <a:gd name="adj" fmla="val 3000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6492240" y="3063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temperature scaling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6492240" y="34290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0.06</a:t>
            </a:r>
            <a:endParaRPr lang="en-US" sz="7200" dirty="0"/>
          </a:p>
        </p:txBody>
      </p:sp>
      <p:sp>
        <p:nvSpPr>
          <p:cNvPr id="17" name="Text 13"/>
          <p:cNvSpPr/>
          <p:nvPr/>
        </p:nvSpPr>
        <p:spPr>
          <a:xfrm>
            <a:off x="6492240" y="47548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now tracks reality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40080" y="57607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is standard (temperature scaling, Guo et al. 2017; for code, Zhou et al. ICSE’24) — we apply it, not invent it. We measure it because the SE detector papers don't. Worst-case base shown (vulnerability); every task improves (defect 0.08→0.02).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 — ACCURACY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Defect prediction: a real gain</a:t>
            </a:r>
            <a:endParaRPr lang="en-US" sz="3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19456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7040880" y="2286000"/>
            <a:ext cx="4206240" cy="1463040"/>
          </a:xfrm>
          <a:prstGeom prst="roundRect">
            <a:avLst>
              <a:gd name="adj" fmla="val 5625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315200" y="260604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4481" y="2795321"/>
            <a:ext cx="444398" cy="44439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75320" y="2423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Statistically significant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27532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McNemar, p = 2e-19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7040880" y="3931920"/>
            <a:ext cx="420624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315200" y="4224528"/>
            <a:ext cx="822960" cy="82296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4481" y="4413809"/>
            <a:ext cx="444398" cy="44439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275320" y="4069080"/>
            <a:ext cx="2743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CodeImprove’s base model (+1.6 pts) — while also fixing confidence, no retraining.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retrieval help?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checks similar past code. That only helps if similar code carries the same label.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retrieval help?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checks similar past code. That only helps if similar code carries the same label.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47548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2807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 — defect, clone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206901" y="401521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0284" y="521808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12009" y="4417330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88609" y="509257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75911" y="523606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664884" y="383000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60503" y="3595103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908918" y="354477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472321" y="4669997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64324" y="4907648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08596" y="360328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236368" y="435919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56861" y="505234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60820" y="489567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69148" y="35394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6798" y="478385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2070" y="492171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3792" y="479035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15050" y="408472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74646" y="464406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800346" y="401547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69903" y="40390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87790" y="446784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45003" y="429981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067536" y="421782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681790" y="496131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sit apart → neighbours trustworthy → accuracy ↑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retrieval help?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checks similar past code. That only helps if similar code carries the same label.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47548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2807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 — defect, clone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206901" y="401521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0284" y="521808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12009" y="4417330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88609" y="509257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75911" y="523606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664884" y="383000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60503" y="3595103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908918" y="354477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472321" y="4669997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64324" y="4907648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08596" y="360328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236368" y="435919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56861" y="505234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60820" y="489567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69148" y="35394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6798" y="478385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2070" y="492171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3792" y="479035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15050" y="408472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74646" y="464406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800346" y="401547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69903" y="40390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87790" y="446784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45003" y="429981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067536" y="421782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681790" y="496131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sit apart → neighbours trustworthy → accuracy ↑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492240" y="2697480"/>
            <a:ext cx="47548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6492240" y="2807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— vulnerability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9985007" y="459126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668233" y="3572373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70385" y="5135080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709154" y="406436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138783" y="479660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55426" y="386205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28524" y="3648628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693035" y="512991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539306" y="3800415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828982" y="4808627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549239" y="418559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681298" y="472985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334564" y="4986345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189409" y="5072215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588416" y="381888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97599" y="487554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203590" y="457490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572939" y="506896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485933" y="407429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290505" y="50755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531638" y="469458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600020" y="502180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418146" y="457600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509441" y="3797428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350648" y="445404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781369" y="359487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49224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mixed → neighbours are noise → retrieval skipped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7a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can retrieval help?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0080" y="18745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checks similar past code. That only helps if similar code carries the same label.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47548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2807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Separable — defect, clone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206901" y="401521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0284" y="521808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12009" y="4417330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588609" y="509257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75911" y="523606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664884" y="383000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760503" y="3595103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908918" y="354477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472321" y="4669997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2664324" y="4907648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408596" y="360328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236368" y="435919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656861" y="505234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360820" y="489567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69148" y="35394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66798" y="478385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2070" y="492171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33792" y="479035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15050" y="408472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74646" y="464406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800346" y="4015473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369903" y="40390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87790" y="446784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45003" y="4299816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067536" y="421782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681790" y="4961314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sit apart → neighbours trustworthy → accuracy ↑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492240" y="2697480"/>
            <a:ext cx="475488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6492240" y="280720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— vulnerability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9985007" y="4591261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668233" y="3572373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70385" y="5135080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709154" y="406436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138783" y="4796606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855426" y="386205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28524" y="3648628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7693035" y="5129912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539306" y="3800415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828982" y="4808627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549239" y="4185599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681298" y="4729854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334564" y="4986345"/>
            <a:ext cx="146304" cy="146304"/>
          </a:xfrm>
          <a:prstGeom prst="ellipse">
            <a:avLst/>
          </a:prstGeom>
          <a:solidFill>
            <a:srgbClr val="02809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189409" y="5072215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588416" y="381888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97599" y="487554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203590" y="457490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9572939" y="506896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485933" y="4074291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290505" y="5075542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7531638" y="4694580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0600020" y="502180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418146" y="4576009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509441" y="3797428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350648" y="445404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9781369" y="3594877"/>
            <a:ext cx="146304" cy="14630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6492240" y="5760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mixed → neighbours are noise → retrieval skipped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640080" y="62636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deciding factor is separability — not whether the task is binary. Clone detection is binary yet separable, and it works.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 — WHERE IT WORKS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the limits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5029200" cy="3383280"/>
          </a:xfrm>
          <a:prstGeom prst="roundRect">
            <a:avLst>
              <a:gd name="adj" fmla="val 2432"/>
            </a:avLst>
          </a:prstGeom>
          <a:solidFill>
            <a:srgbClr val="E3F1E9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6060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2816352"/>
            <a:ext cx="493776" cy="4937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011680" y="27432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Works: defect prediction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1005840" y="38404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separate the 4 classes (MCC ≈ 0.74).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are trustworthy — kNN adds accuracy, significantly.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126480" y="2286000"/>
            <a:ext cx="5029200" cy="3383280"/>
          </a:xfrm>
          <a:prstGeom prst="roundRect">
            <a:avLst>
              <a:gd name="adj" fmla="val 2432"/>
            </a:avLst>
          </a:prstGeom>
          <a:solidFill>
            <a:srgbClr val="F8E6E3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46520" y="260604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816352"/>
            <a:ext cx="493776" cy="493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98080" y="2743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can’t: vulnerability</a:t>
            </a:r>
            <a:endParaRPr lang="en-US" sz="1900" dirty="0"/>
          </a:p>
        </p:txBody>
      </p:sp>
      <p:sp>
        <p:nvSpPr>
          <p:cNvPr id="17" name="Text 12"/>
          <p:cNvSpPr/>
          <p:nvPr/>
        </p:nvSpPr>
        <p:spPr>
          <a:xfrm>
            <a:off x="6492240" y="3840480"/>
            <a:ext cx="4297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Vulnerable vs safe code overlaps (MCC ≈ 0.26, ReVeal).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Neighbours are noise — SENTRY falls back to calibration; accuracy preserved.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4008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helps iff the embedding separates classes — multiclass AND binary clone detection; it fails on vulnerability (unlearnable). The axis is separability, not binary-vs-multiclass.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PRIOR WORK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SENTRY sits</a:t>
            </a:r>
            <a:endParaRPr lang="en-US" sz="34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11535" cy="914400"/>
        </p:xfrm>
        <a:graphic>
          <a:graphicData uri="http://schemas.openxmlformats.org/drawingml/2006/table">
            <a:tbl>
              <a:tblPr/>
              <a:tblGrid>
                <a:gridCol w="3611880"/>
                <a:gridCol w="2377440"/>
                <a:gridCol w="3108960"/>
                <a:gridCol w="181051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Defect acc.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/ calibration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CodeBERT (base)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overconfident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GraphCodeBERT (base)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overconfident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CodeImprove (ICSE’25)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not addressed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Devign SOTA (CodeT5…)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66–67%*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not addressed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341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SENTRY (ours)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calibrated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632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B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EF0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vulnerability task. SENTRY adds calibration and reliability-gated accuracy on a comparable base — complementary to post-hoc calibration (incl. kNN-UE, NAACL’25) and to input-side CodeImprove.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Strengths, limits, and next steps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468880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5" y="2647645"/>
            <a:ext cx="419710" cy="4197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00584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+ calibration together, no retraining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defect gain (McNemar p=4e-6)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datasets × 4 encoders; clone control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Strengths, limits, and next steps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468880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5" y="2647645"/>
            <a:ext cx="419710" cy="4197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00584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+ calibration together, no retraining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defect gain (McNemar p=4e-6)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datasets × 4 encoders; clone control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468880"/>
            <a:ext cx="777240" cy="777240"/>
          </a:xfrm>
          <a:prstGeom prst="ellipse">
            <a:avLst/>
          </a:prstGeom>
          <a:solidFill>
            <a:srgbClr val="F8E6E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765" y="2647645"/>
            <a:ext cx="419710" cy="4197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61772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can’t help non-separable tasks (vuln)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Separability seen post-hoc, not predicted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= representability ceiling (data)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475488"/>
            <a:ext cx="201168" cy="2011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7280" y="38404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7894015" y="4206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6873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2344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Strengths, limits, and next steps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64008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960120" y="2468880"/>
            <a:ext cx="777240" cy="777240"/>
          </a:xfrm>
          <a:prstGeom prst="ellipse">
            <a:avLst/>
          </a:prstGeom>
          <a:solidFill>
            <a:srgbClr val="E3F1E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85" y="2647645"/>
            <a:ext cx="419710" cy="4197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00584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+ calibration together, no retraining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defect gain (McNemar p=4e-6)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datasets × 4 encoders; clone control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425196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572000" y="2468880"/>
            <a:ext cx="777240" cy="777240"/>
          </a:xfrm>
          <a:prstGeom prst="ellipse">
            <a:avLst/>
          </a:prstGeom>
          <a:solidFill>
            <a:srgbClr val="F8E6E3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765" y="2647645"/>
            <a:ext cx="419710" cy="4197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44068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461772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can’t help non-separable tasks (vuln)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Separability seen post-hoc, not predicted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= representability ceiling (data)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7863840" y="2194560"/>
            <a:ext cx="3383280" cy="3657600"/>
          </a:xfrm>
          <a:prstGeom prst="roundRect">
            <a:avLst>
              <a:gd name="adj" fmla="val 2432"/>
            </a:avLst>
          </a:prstGeom>
          <a:solidFill>
            <a:srgbClr val="FFFFFF"/>
          </a:solidFill>
          <a:ln w="12700">
            <a:solidFill>
              <a:srgbClr val="DBE4E8"/>
            </a:solidFill>
            <a:prstDash val="solid"/>
          </a:ln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183880" y="2468880"/>
            <a:ext cx="777240" cy="777240"/>
          </a:xfrm>
          <a:prstGeom prst="ellipse">
            <a:avLst/>
          </a:prstGeom>
          <a:solidFill>
            <a:srgbClr val="DCEEF0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645" y="2647645"/>
            <a:ext cx="419710" cy="4197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052560" y="246888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What’s next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8229600" y="3429000"/>
            <a:ext cx="2743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Auto-gate from the separability signal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uncertainty estimators (kNN-UE)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tasks; combine with CodeImprove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64328" y="1371600"/>
            <a:ext cx="1463040" cy="146304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88900" dist="38100" dir="5400000">
              <a:srgbClr val="9AA9B2">
                <a:alpha val="28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5224" y="1719072"/>
            <a:ext cx="841248" cy="8046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06324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300" kern="0" dirty="0">
                <a:solidFill>
                  <a:srgbClr val="1632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Trustworthy confidence for code models — no retraining.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github.com/jsureka/SENTRY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0" y="56692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Jitesh Sureka</a:t>
            </a:r>
            <a:pPr algn="ctr" indent="0" marL="0">
              <a:buNone/>
            </a:pPr>
            <a:r>
              <a:rPr lang="en-US" sz="14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(Roll 1988)   •   Supervised by </a:t>
            </a:r>
            <a:pPr algn="ctr" indent="0" marL="0">
              <a:buNone/>
            </a:pPr>
            <a:r>
              <a:rPr lang="en-US" sz="1400" b="1" dirty="0">
                <a:solidFill>
                  <a:srgbClr val="16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Emon Kumar Dey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SENTRY — Results &amp; Discussion</dc:title>
  <dc:subject>PptxGenJS Presentation</dc:subject>
  <dc:creator>Jitesh Sureka</dc:creator>
  <cp:lastModifiedBy>Jitesh Sureka</cp:lastModifiedBy>
  <cp:revision>1</cp:revision>
  <dcterms:created xsi:type="dcterms:W3CDTF">2026-06-26T16:26:59Z</dcterms:created>
  <dcterms:modified xsi:type="dcterms:W3CDTF">2026-06-26T16:26:59Z</dcterms:modified>
</cp:coreProperties>
</file>