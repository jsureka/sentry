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9DB2BD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6324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B2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DB2BD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Base model</c:v>
                  </c:pt>
                  <c:pt idx="1">
                    <c:v>SENTRY</c:v>
                  </c:pt>
                  <c:pt idx="2">
                    <c:v>CodeImprove
(base)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80.6</c:v>
                </c:pt>
                <c:pt idx="1">
                  <c:v>83.5</c:v>
                </c:pt>
                <c:pt idx="2">
                  <c:v>81.9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16324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414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"/>
          <c:min val="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3F7F9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9-1.png"/><Relationship Id="rId3" Type="http://schemas.openxmlformats.org/officeDocument/2006/relationships/image" Target="../media/image-19-2.png"/><Relationship Id="rId4" Type="http://schemas.openxmlformats.org/officeDocument/2006/relationships/image" Target="../media/image-1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227168" y="1234440"/>
            <a:ext cx="1737360" cy="1737360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92928" y="1627632"/>
            <a:ext cx="1005840" cy="9601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3246120"/>
            <a:ext cx="12191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spc="4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6000" dirty="0"/>
          </a:p>
        </p:txBody>
      </p:sp>
      <p:sp>
        <p:nvSpPr>
          <p:cNvPr id="5" name="Text 2"/>
          <p:cNvSpPr/>
          <p:nvPr/>
        </p:nvSpPr>
        <p:spPr>
          <a:xfrm>
            <a:off x="0" y="416052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code-analysis AI trustworthy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0" y="461772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training-free reliability layer for code classifiers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0" y="58064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Jitesh Sureka</a:t>
            </a:r>
            <a:pPr algn="ctr" indent="0" marL="0">
              <a:buNone/>
            </a:pPr>
            <a:r>
              <a:rPr lang="en-US" sz="14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(Roll 1988)</a:t>
            </a:r>
            <a:pPr algn="ctr" indent="0" marL="0">
              <a:buNone/>
            </a:pPr>
            <a:r>
              <a:rPr lang="en-US" sz="14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•     Supervised by </a:t>
            </a:r>
            <a:pPr algn="ctr"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Emon Kumar Dey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5544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now judges our code.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640080" y="23774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we trust how sure it is?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9174175" y="3017520"/>
            <a:ext cx="2011680" cy="201168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6862" y="3480206"/>
            <a:ext cx="1086307" cy="108630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40080" y="4023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 &amp; vulnerability detectors decide what ships.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640080" y="45262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confidence guides those decisions — so it has to be honest.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 are overconfident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640080" y="2057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report high confidence — and are still wrong.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40080" y="2834640"/>
            <a:ext cx="475488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60120" y="3154680"/>
            <a:ext cx="822960" cy="82296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401" y="3343961"/>
            <a:ext cx="444398" cy="44439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965960" y="32461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Says: 81% confident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960120" y="4297680"/>
            <a:ext cx="4114800" cy="310896"/>
          </a:xfrm>
          <a:prstGeom prst="roundRect">
            <a:avLst>
              <a:gd name="adj" fmla="val 14706"/>
            </a:avLst>
          </a:prstGeom>
          <a:solidFill>
            <a:srgbClr val="DBE4E8"/>
          </a:solidFill>
          <a:ln/>
        </p:spPr>
      </p:sp>
      <p:sp>
        <p:nvSpPr>
          <p:cNvPr id="14" name="Shape 10"/>
          <p:cNvSpPr/>
          <p:nvPr/>
        </p:nvSpPr>
        <p:spPr>
          <a:xfrm>
            <a:off x="960120" y="4297680"/>
            <a:ext cx="2542032" cy="310896"/>
          </a:xfrm>
          <a:prstGeom prst="roundRect">
            <a:avLst>
              <a:gd name="adj" fmla="val 14706"/>
            </a:avLst>
          </a:prstGeom>
          <a:solidFill>
            <a:srgbClr val="C0392B"/>
          </a:solidFill>
          <a:ln/>
        </p:spPr>
      </p:sp>
      <p:sp>
        <p:nvSpPr>
          <p:cNvPr id="15" name="Text 11"/>
          <p:cNvSpPr/>
          <p:nvPr/>
        </p:nvSpPr>
        <p:spPr>
          <a:xfrm>
            <a:off x="960120" y="47091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only 61% of the time (CodeBERT, vulnerability)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852160" y="2834640"/>
            <a:ext cx="4846320" cy="2468880"/>
          </a:xfrm>
          <a:prstGeom prst="roundRect">
            <a:avLst>
              <a:gd name="adj" fmla="val 3333"/>
            </a:avLst>
          </a:prstGeom>
          <a:solidFill>
            <a:srgbClr val="F3F7F9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172200" y="3154680"/>
            <a:ext cx="822960" cy="822960"/>
          </a:xfrm>
          <a:prstGeom prst="ellipse">
            <a:avLst/>
          </a:prstGeom>
          <a:solidFill>
            <a:srgbClr val="FBEBD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1481" y="3343961"/>
            <a:ext cx="444398" cy="44439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178040" y="32004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an intern who never says “I’m not sure.”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6172200" y="43434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that doesn’t track reality is worse than no confidence at all.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WORDS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3a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does “calibrated” mean?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40080" y="2377440"/>
            <a:ext cx="1280160" cy="128016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517" y="2671877"/>
            <a:ext cx="691286" cy="69128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377440" y="2514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weather app says “90% chance of rain.”</a:t>
            </a:r>
            <a:endParaRPr lang="en-US" sz="2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WORDS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3a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does “calibrated” mean?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40080" y="2377440"/>
            <a:ext cx="1280160" cy="128016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517" y="2671877"/>
            <a:ext cx="691286" cy="69128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377440" y="2514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weather app says “90% chance of rain.”</a:t>
            </a:r>
            <a:endParaRPr lang="en-US" sz="2300" dirty="0"/>
          </a:p>
        </p:txBody>
      </p:sp>
      <p:sp>
        <p:nvSpPr>
          <p:cNvPr id="11" name="Text 7"/>
          <p:cNvSpPr/>
          <p:nvPr/>
        </p:nvSpPr>
        <p:spPr>
          <a:xfrm>
            <a:off x="640080" y="3886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Calibrated: on those days it really does rain about 9 times in 10.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WORDS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3a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does “calibrated” mean?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40080" y="2377440"/>
            <a:ext cx="1280160" cy="128016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517" y="2671877"/>
            <a:ext cx="691286" cy="69128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377440" y="2514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weather app says “90% chance of rain.”</a:t>
            </a:r>
            <a:endParaRPr lang="en-US" sz="2300" dirty="0"/>
          </a:p>
        </p:txBody>
      </p:sp>
      <p:sp>
        <p:nvSpPr>
          <p:cNvPr id="11" name="Text 7"/>
          <p:cNvSpPr/>
          <p:nvPr/>
        </p:nvSpPr>
        <p:spPr>
          <a:xfrm>
            <a:off x="640080" y="3886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Calibrated: on those days it really does rain about 9 times in 10.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640080" y="4572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code models say “90% sure” and are right far less often — confidently wrong.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WORDS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3a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does “calibrated” mean?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40080" y="2377440"/>
            <a:ext cx="1280160" cy="128016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517" y="2671877"/>
            <a:ext cx="691286" cy="69128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377440" y="2514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weather app says “90% chance of rain.”</a:t>
            </a:r>
            <a:endParaRPr lang="en-US" sz="2300" dirty="0"/>
          </a:p>
        </p:txBody>
      </p:sp>
      <p:sp>
        <p:nvSpPr>
          <p:cNvPr id="11" name="Text 7"/>
          <p:cNvSpPr/>
          <p:nvPr/>
        </p:nvSpPr>
        <p:spPr>
          <a:xfrm>
            <a:off x="640080" y="3886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Calibrated: on those days it really does rain about 9 times in 10.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640080" y="4572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code models say “90% sure” and are right far less often — confidently wrong.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640080" y="54406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(temperature scaling, standard since Guo 2017) fixes this. We apply it — then go further by also improving accuracy.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Confident + wrong = risky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40080" y="2286000"/>
            <a:ext cx="338328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60120" y="2606040"/>
            <a:ext cx="914400" cy="91440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2816352"/>
            <a:ext cx="493776" cy="49377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60120" y="3657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Misses real bugs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960120" y="41605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defect waved through with high confidence reaches production.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251960" y="2286000"/>
            <a:ext cx="338328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572000" y="2606040"/>
            <a:ext cx="914400" cy="91440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2312" y="2816352"/>
            <a:ext cx="493776" cy="49377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572000" y="3657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False alarms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4572000" y="41605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Crying wolf on safe code wastes review time and erodes trust.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7863840" y="2286000"/>
            <a:ext cx="338328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183880" y="2606040"/>
            <a:ext cx="914400" cy="91440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4192" y="2816352"/>
            <a:ext cx="493776" cy="49377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183880" y="3657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Automated pipelines</a:t>
            </a:r>
            <a:endParaRPr lang="en-US" sz="1900" dirty="0"/>
          </a:p>
        </p:txBody>
      </p:sp>
      <p:sp>
        <p:nvSpPr>
          <p:cNvPr id="22" name="Text 16"/>
          <p:cNvSpPr/>
          <p:nvPr/>
        </p:nvSpPr>
        <p:spPr>
          <a:xfrm>
            <a:off x="8183880" y="41605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acts on the score. A wrong-but-confident score acts too.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WORK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people do today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40080" y="2194560"/>
            <a:ext cx="338328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60120" y="2514600"/>
            <a:ext cx="914400" cy="91440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2724912"/>
            <a:ext cx="493776" cy="49377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60120" y="36118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Fine-tuned models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960120" y="420624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CodeBERT / GraphCodeBERT. Strong accuracy — but overconfident.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251960" y="2194560"/>
            <a:ext cx="338328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572000" y="2514600"/>
            <a:ext cx="914400" cy="91440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2312" y="2724912"/>
            <a:ext cx="493776" cy="49377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572000" y="36118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 language models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4572000" y="420624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Capable, but costly at scale and still poorly calibrated.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7863840" y="2194560"/>
            <a:ext cx="338328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183880" y="2514600"/>
            <a:ext cx="914400" cy="91440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4192" y="2724912"/>
            <a:ext cx="493776" cy="49377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183880" y="36118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CodeImprove (ICSE’25)</a:t>
            </a:r>
            <a:endParaRPr lang="en-US" sz="1800" dirty="0"/>
          </a:p>
        </p:txBody>
      </p:sp>
      <p:sp>
        <p:nvSpPr>
          <p:cNvPr id="22" name="Text 16"/>
          <p:cNvSpPr/>
          <p:nvPr/>
        </p:nvSpPr>
        <p:spPr>
          <a:xfrm>
            <a:off x="8183880" y="420624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the INPUT: detect odd code, rewrite it. No retraining.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missing piece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40080" y="2468880"/>
            <a:ext cx="1280160" cy="128016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517" y="2763317"/>
            <a:ext cx="691286" cy="69128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40080" y="40233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one makes the model’s confidence trustworthy —</a:t>
            </a:r>
            <a:endParaRPr lang="en-US" sz="2600" dirty="0"/>
          </a:p>
        </p:txBody>
      </p:sp>
      <p:sp>
        <p:nvSpPr>
          <p:cNvPr id="11" name="Text 7"/>
          <p:cNvSpPr/>
          <p:nvPr/>
        </p:nvSpPr>
        <p:spPr>
          <a:xfrm>
            <a:off x="640080" y="46177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without </a:t>
            </a:r>
            <a:pPr indent="0" marL="0">
              <a:buNone/>
            </a:pPr>
            <a:r>
              <a:rPr lang="en-US" sz="2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retraining</a:t>
            </a:r>
            <a:pPr indent="0" marL="0">
              <a:buNone/>
            </a:pPr>
            <a:r>
              <a:rPr lang="en-US" sz="26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the model.</a:t>
            </a:r>
            <a:endParaRPr lang="en-US" sz="2600" dirty="0"/>
          </a:p>
        </p:txBody>
      </p:sp>
      <p:sp>
        <p:nvSpPr>
          <p:cNvPr id="12" name="Text 8"/>
          <p:cNvSpPr/>
          <p:nvPr/>
        </p:nvSpPr>
        <p:spPr>
          <a:xfrm>
            <a:off x="640080" y="54406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gap SENTRY fills.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IDEA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37360"/>
            <a:ext cx="1371600" cy="1371600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2075688"/>
            <a:ext cx="603504" cy="60350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377440" y="178308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2377440" y="2606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reliability layer you bolt onto any trained model.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640080" y="3931920"/>
            <a:ext cx="3383280" cy="1371600"/>
          </a:xfrm>
          <a:prstGeom prst="roundRect">
            <a:avLst>
              <a:gd name="adj" fmla="val 6000"/>
            </a:avLst>
          </a:prstGeom>
          <a:solidFill>
            <a:srgbClr val="F3F7F9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914400" y="4224528"/>
            <a:ext cx="777240" cy="777240"/>
          </a:xfrm>
          <a:prstGeom prst="ellipse">
            <a:avLst/>
          </a:prstGeom>
          <a:solidFill>
            <a:srgbClr val="E3F1E9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165" y="4403293"/>
            <a:ext cx="419710" cy="41971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828800" y="393192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retraining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4251960" y="3931920"/>
            <a:ext cx="3383280" cy="1371600"/>
          </a:xfrm>
          <a:prstGeom prst="roundRect">
            <a:avLst>
              <a:gd name="adj" fmla="val 6000"/>
            </a:avLst>
          </a:prstGeom>
          <a:solidFill>
            <a:srgbClr val="F3F7F9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4526280" y="4224528"/>
            <a:ext cx="777240" cy="777240"/>
          </a:xfrm>
          <a:prstGeom prst="ellipse">
            <a:avLst/>
          </a:prstGeom>
          <a:solidFill>
            <a:srgbClr val="E3F1E9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5045" y="4403293"/>
            <a:ext cx="419710" cy="41971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440680" y="393192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any model</a:t>
            </a:r>
            <a:endParaRPr lang="en-US" sz="1600" dirty="0"/>
          </a:p>
        </p:txBody>
      </p:sp>
      <p:sp>
        <p:nvSpPr>
          <p:cNvPr id="19" name="Shape 13"/>
          <p:cNvSpPr/>
          <p:nvPr/>
        </p:nvSpPr>
        <p:spPr>
          <a:xfrm>
            <a:off x="7863840" y="3931920"/>
            <a:ext cx="3383280" cy="1371600"/>
          </a:xfrm>
          <a:prstGeom prst="roundRect">
            <a:avLst>
              <a:gd name="adj" fmla="val 6000"/>
            </a:avLst>
          </a:prstGeom>
          <a:solidFill>
            <a:srgbClr val="F3F7F9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8138160" y="4224528"/>
            <a:ext cx="777240" cy="777240"/>
          </a:xfrm>
          <a:prstGeom prst="ellipse">
            <a:avLst/>
          </a:prstGeom>
          <a:solidFill>
            <a:srgbClr val="E3F1E9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16925" y="4403293"/>
            <a:ext cx="419710" cy="41971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9052560" y="393192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confidence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PLAIN WORDS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 is a guard at the gate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40080" y="2468880"/>
            <a:ext cx="1828800" cy="182880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889504"/>
            <a:ext cx="987552" cy="98755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108960" y="2468880"/>
            <a:ext cx="73152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3337560" y="2761488"/>
            <a:ext cx="822960" cy="822960"/>
          </a:xfrm>
          <a:prstGeom prst="ellipse">
            <a:avLst/>
          </a:prstGeom>
          <a:solidFill>
            <a:srgbClr val="E3F1E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6841" y="2950769"/>
            <a:ext cx="444398" cy="44439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343400" y="265176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Confident prediction?</a:t>
            </a:r>
            <a:endParaRPr lang="en-US" sz="1900" dirty="0"/>
          </a:p>
        </p:txBody>
      </p:sp>
      <p:sp>
        <p:nvSpPr>
          <p:cNvPr id="14" name="Text 9"/>
          <p:cNvSpPr/>
          <p:nvPr/>
        </p:nvSpPr>
        <p:spPr>
          <a:xfrm>
            <a:off x="4343400" y="3127248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it straight through.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3108960" y="4069080"/>
            <a:ext cx="73152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3337560" y="4361688"/>
            <a:ext cx="822960" cy="82296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6841" y="4550969"/>
            <a:ext cx="444398" cy="44439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4343400" y="425196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Unsure?</a:t>
            </a:r>
            <a:endParaRPr lang="en-US" sz="1900" dirty="0"/>
          </a:p>
        </p:txBody>
      </p:sp>
      <p:sp>
        <p:nvSpPr>
          <p:cNvPr id="19" name="Text 13"/>
          <p:cNvSpPr/>
          <p:nvPr/>
        </p:nvSpPr>
        <p:spPr>
          <a:xfrm>
            <a:off x="4343400" y="4727448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Double-check against memory of similar past code.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  1 / 4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SENTRY works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1005840" y="2743200"/>
            <a:ext cx="2286000" cy="1737360"/>
          </a:xfrm>
          <a:prstGeom prst="roundRect">
            <a:avLst>
              <a:gd name="adj" fmla="val 5263"/>
            </a:avLst>
          </a:prstGeom>
          <a:solidFill>
            <a:srgbClr val="028090"/>
          </a:solidFill>
          <a:ln w="15875">
            <a:solidFill>
              <a:srgbClr val="028090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1783080" y="2971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1330" y="3140050"/>
            <a:ext cx="395021" cy="39502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005840" y="3794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in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952848" y="2743200"/>
            <a:ext cx="2286000" cy="1737360"/>
          </a:xfrm>
          <a:prstGeom prst="roundRect">
            <a:avLst>
              <a:gd name="adj" fmla="val 5263"/>
            </a:avLst>
          </a:prstGeom>
          <a:solidFill>
            <a:srgbClr val="F3F7F9"/>
          </a:solidFill>
          <a:ln w="15875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5730088" y="2971800"/>
            <a:ext cx="731520" cy="73152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8337" y="3140050"/>
            <a:ext cx="395021" cy="395021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952848" y="3794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model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899855" y="2743200"/>
            <a:ext cx="2286000" cy="1737360"/>
          </a:xfrm>
          <a:prstGeom prst="roundRect">
            <a:avLst>
              <a:gd name="adj" fmla="val 5263"/>
            </a:avLst>
          </a:prstGeom>
          <a:solidFill>
            <a:srgbClr val="F3F7F9"/>
          </a:solidFill>
          <a:ln w="15875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677095" y="2971800"/>
            <a:ext cx="731520" cy="73152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45345" y="3140050"/>
            <a:ext cx="395021" cy="395021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899855" y="3794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3337560" y="3456432"/>
            <a:ext cx="640080" cy="310896"/>
          </a:xfrm>
          <a:prstGeom prst="rightArrow">
            <a:avLst/>
          </a:prstGeom>
          <a:solidFill>
            <a:srgbClr val="028090"/>
          </a:solidFill>
          <a:ln/>
        </p:spPr>
      </p:sp>
      <p:sp>
        <p:nvSpPr>
          <p:cNvPr id="21" name="Shape 15"/>
          <p:cNvSpPr/>
          <p:nvPr/>
        </p:nvSpPr>
        <p:spPr>
          <a:xfrm>
            <a:off x="7284568" y="3456432"/>
            <a:ext cx="640080" cy="310896"/>
          </a:xfrm>
          <a:prstGeom prst="rightArrow">
            <a:avLst/>
          </a:prstGeom>
          <a:solidFill>
            <a:srgbClr val="028090"/>
          </a:solidFill>
          <a:ln/>
        </p:spPr>
      </p:sp>
      <p:sp>
        <p:nvSpPr>
          <p:cNvPr id="22" name="Shape 16"/>
          <p:cNvSpPr/>
          <p:nvPr/>
        </p:nvSpPr>
        <p:spPr>
          <a:xfrm>
            <a:off x="1371600" y="3063240"/>
            <a:ext cx="15544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1328" y="3172968"/>
            <a:ext cx="292608" cy="292608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1554480" y="3630168"/>
            <a:ext cx="1188720" cy="73152"/>
          </a:xfrm>
          <a:prstGeom prst="rect">
            <a:avLst/>
          </a:prstGeom>
          <a:solidFill>
            <a:srgbClr val="DBE4E8"/>
          </a:solidFill>
          <a:ln/>
        </p:spPr>
      </p:sp>
      <p:sp>
        <p:nvSpPr>
          <p:cNvPr id="25" name="Shape 18"/>
          <p:cNvSpPr/>
          <p:nvPr/>
        </p:nvSpPr>
        <p:spPr>
          <a:xfrm>
            <a:off x="1554480" y="3776472"/>
            <a:ext cx="914400" cy="73152"/>
          </a:xfrm>
          <a:prstGeom prst="rect">
            <a:avLst/>
          </a:prstGeom>
          <a:solidFill>
            <a:srgbClr val="DBE4E8"/>
          </a:solidFill>
          <a:ln/>
        </p:spPr>
      </p:sp>
      <p:sp>
        <p:nvSpPr>
          <p:cNvPr id="26" name="Shape 19"/>
          <p:cNvSpPr/>
          <p:nvPr/>
        </p:nvSpPr>
        <p:spPr>
          <a:xfrm>
            <a:off x="1554480" y="3922776"/>
            <a:ext cx="1097280" cy="73152"/>
          </a:xfrm>
          <a:prstGeom prst="rect">
            <a:avLst/>
          </a:prstGeom>
          <a:solidFill>
            <a:srgbClr val="DBE4E8"/>
          </a:solidFill>
          <a:ln/>
        </p:spPr>
      </p:sp>
      <p:sp>
        <p:nvSpPr>
          <p:cNvPr id="27" name="Text 20"/>
          <p:cNvSpPr/>
          <p:nvPr/>
        </p:nvSpPr>
        <p:spPr>
          <a:xfrm>
            <a:off x="640080" y="49377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code snippet arrives.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  2 / 4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SENTRY works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1005840" y="2743200"/>
            <a:ext cx="2286000" cy="1737360"/>
          </a:xfrm>
          <a:prstGeom prst="roundRect">
            <a:avLst>
              <a:gd name="adj" fmla="val 5263"/>
            </a:avLst>
          </a:prstGeom>
          <a:solidFill>
            <a:srgbClr val="F3F7F9"/>
          </a:solidFill>
          <a:ln w="15875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1783080" y="2971800"/>
            <a:ext cx="731520" cy="73152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1330" y="3140050"/>
            <a:ext cx="395021" cy="39502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005840" y="3794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in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952848" y="2743200"/>
            <a:ext cx="2286000" cy="1737360"/>
          </a:xfrm>
          <a:prstGeom prst="roundRect">
            <a:avLst>
              <a:gd name="adj" fmla="val 5263"/>
            </a:avLst>
          </a:prstGeom>
          <a:solidFill>
            <a:srgbClr val="028090"/>
          </a:solidFill>
          <a:ln w="15875">
            <a:solidFill>
              <a:srgbClr val="028090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5730088" y="2971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8337" y="3140050"/>
            <a:ext cx="395021" cy="395021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952848" y="3794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model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899855" y="2743200"/>
            <a:ext cx="2286000" cy="1737360"/>
          </a:xfrm>
          <a:prstGeom prst="roundRect">
            <a:avLst>
              <a:gd name="adj" fmla="val 5263"/>
            </a:avLst>
          </a:prstGeom>
          <a:solidFill>
            <a:srgbClr val="028090"/>
          </a:solidFill>
          <a:ln w="15875">
            <a:solidFill>
              <a:srgbClr val="028090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677095" y="2971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45345" y="3140050"/>
            <a:ext cx="395021" cy="395021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899855" y="3794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3337560" y="3456432"/>
            <a:ext cx="640080" cy="310896"/>
          </a:xfrm>
          <a:prstGeom prst="rightArrow">
            <a:avLst/>
          </a:prstGeom>
          <a:solidFill>
            <a:srgbClr val="028090"/>
          </a:solidFill>
          <a:ln/>
        </p:spPr>
      </p:sp>
      <p:sp>
        <p:nvSpPr>
          <p:cNvPr id="21" name="Shape 15"/>
          <p:cNvSpPr/>
          <p:nvPr/>
        </p:nvSpPr>
        <p:spPr>
          <a:xfrm>
            <a:off x="7284568" y="3456432"/>
            <a:ext cx="640080" cy="310896"/>
          </a:xfrm>
          <a:prstGeom prst="rightArrow">
            <a:avLst/>
          </a:prstGeom>
          <a:solidFill>
            <a:srgbClr val="028090"/>
          </a:solidFill>
          <a:ln/>
        </p:spPr>
      </p:sp>
      <p:sp>
        <p:nvSpPr>
          <p:cNvPr id="22" name="Shape 16"/>
          <p:cNvSpPr/>
          <p:nvPr/>
        </p:nvSpPr>
        <p:spPr>
          <a:xfrm>
            <a:off x="5318608" y="3063240"/>
            <a:ext cx="15544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28336" y="3172968"/>
            <a:ext cx="292608" cy="292608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5501488" y="3630168"/>
            <a:ext cx="1188720" cy="73152"/>
          </a:xfrm>
          <a:prstGeom prst="rect">
            <a:avLst/>
          </a:prstGeom>
          <a:solidFill>
            <a:srgbClr val="DBE4E8"/>
          </a:solidFill>
          <a:ln/>
        </p:spPr>
      </p:sp>
      <p:sp>
        <p:nvSpPr>
          <p:cNvPr id="25" name="Shape 18"/>
          <p:cNvSpPr/>
          <p:nvPr/>
        </p:nvSpPr>
        <p:spPr>
          <a:xfrm>
            <a:off x="5501488" y="3776472"/>
            <a:ext cx="914400" cy="73152"/>
          </a:xfrm>
          <a:prstGeom prst="rect">
            <a:avLst/>
          </a:prstGeom>
          <a:solidFill>
            <a:srgbClr val="DBE4E8"/>
          </a:solidFill>
          <a:ln/>
        </p:spPr>
      </p:sp>
      <p:sp>
        <p:nvSpPr>
          <p:cNvPr id="26" name="Shape 19"/>
          <p:cNvSpPr/>
          <p:nvPr/>
        </p:nvSpPr>
        <p:spPr>
          <a:xfrm>
            <a:off x="5501488" y="3922776"/>
            <a:ext cx="1097280" cy="73152"/>
          </a:xfrm>
          <a:prstGeom prst="rect">
            <a:avLst/>
          </a:prstGeom>
          <a:solidFill>
            <a:srgbClr val="DBE4E8"/>
          </a:solidFill>
          <a:ln/>
        </p:spPr>
      </p:sp>
      <p:sp>
        <p:nvSpPr>
          <p:cNvPr id="27" name="Text 20"/>
          <p:cNvSpPr/>
          <p:nvPr/>
        </p:nvSpPr>
        <p:spPr>
          <a:xfrm>
            <a:off x="8899855" y="45720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9128455" y="4864608"/>
            <a:ext cx="1828800" cy="237744"/>
          </a:xfrm>
          <a:prstGeom prst="roundRect">
            <a:avLst>
              <a:gd name="adj" fmla="val 19231"/>
            </a:avLst>
          </a:prstGeom>
          <a:solidFill>
            <a:srgbClr val="DBE4E8"/>
          </a:solidFill>
          <a:ln/>
        </p:spPr>
      </p:sp>
      <p:sp>
        <p:nvSpPr>
          <p:cNvPr id="29" name="Shape 22"/>
          <p:cNvSpPr/>
          <p:nvPr/>
        </p:nvSpPr>
        <p:spPr>
          <a:xfrm>
            <a:off x="9128455" y="4864608"/>
            <a:ext cx="1371600" cy="237744"/>
          </a:xfrm>
          <a:prstGeom prst="roundRect">
            <a:avLst>
              <a:gd name="adj" fmla="val 19231"/>
            </a:avLst>
          </a:prstGeom>
          <a:solidFill>
            <a:srgbClr val="028090"/>
          </a:solidFill>
          <a:ln/>
        </p:spPr>
      </p:sp>
      <p:sp>
        <p:nvSpPr>
          <p:cNvPr id="30" name="Text 23"/>
          <p:cNvSpPr/>
          <p:nvPr/>
        </p:nvSpPr>
        <p:spPr>
          <a:xfrm>
            <a:off x="640080" y="53949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predicts and reports how sure it is.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  3 / 4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SENTRY works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1005840" y="2743200"/>
            <a:ext cx="2286000" cy="1737360"/>
          </a:xfrm>
          <a:prstGeom prst="roundRect">
            <a:avLst>
              <a:gd name="adj" fmla="val 5263"/>
            </a:avLst>
          </a:prstGeom>
          <a:solidFill>
            <a:srgbClr val="028090"/>
          </a:solidFill>
          <a:ln w="15875">
            <a:solidFill>
              <a:srgbClr val="028090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1783080" y="2971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1330" y="3140050"/>
            <a:ext cx="395021" cy="39502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005840" y="3794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Confident?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337560" y="2743200"/>
            <a:ext cx="640080" cy="310896"/>
          </a:xfrm>
          <a:prstGeom prst="rightArrow">
            <a:avLst/>
          </a:prstGeom>
          <a:solidFill>
            <a:srgbClr val="2E8B57"/>
          </a:solidFill>
          <a:ln/>
        </p:spPr>
      </p:sp>
      <p:sp>
        <p:nvSpPr>
          <p:cNvPr id="13" name="Text 9"/>
          <p:cNvSpPr/>
          <p:nvPr/>
        </p:nvSpPr>
        <p:spPr>
          <a:xfrm>
            <a:off x="3200400" y="2377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Sure → pass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1920240" y="4526280"/>
            <a:ext cx="310896" cy="548640"/>
          </a:xfrm>
          <a:prstGeom prst="downArrow">
            <a:avLst/>
          </a:prstGeom>
          <a:solidFill>
            <a:srgbClr val="B7791F"/>
          </a:solidFill>
          <a:ln/>
        </p:spPr>
      </p:sp>
      <p:sp>
        <p:nvSpPr>
          <p:cNvPr id="15" name="Text 11"/>
          <p:cNvSpPr/>
          <p:nvPr/>
        </p:nvSpPr>
        <p:spPr>
          <a:xfrm>
            <a:off x="914400" y="5074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Unsure ↓ check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899855" y="2743200"/>
            <a:ext cx="2286000" cy="1737360"/>
          </a:xfrm>
          <a:prstGeom prst="roundRect">
            <a:avLst>
              <a:gd name="adj" fmla="val 5263"/>
            </a:avLst>
          </a:prstGeom>
          <a:solidFill>
            <a:srgbClr val="028090"/>
          </a:solidFill>
          <a:ln w="15875">
            <a:solidFill>
              <a:srgbClr val="028090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9677095" y="2971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45345" y="3140050"/>
            <a:ext cx="395021" cy="395021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899855" y="3794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4861408" y="5349240"/>
            <a:ext cx="2743200" cy="1143000"/>
          </a:xfrm>
          <a:prstGeom prst="roundRect">
            <a:avLst>
              <a:gd name="adj" fmla="val 8000"/>
            </a:avLst>
          </a:prstGeom>
          <a:solidFill>
            <a:srgbClr val="DCEEF0"/>
          </a:solidFill>
          <a:ln w="15875">
            <a:solidFill>
              <a:srgbClr val="028090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5090008" y="553212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8773" y="5710885"/>
            <a:ext cx="419710" cy="41971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912968" y="5440680"/>
            <a:ext cx="1691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of similar code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640080" y="20574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gate: confident cases pass; unsure cases get a second opinion.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  4 / 4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SENTRY works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1005840" y="2743200"/>
            <a:ext cx="2286000" cy="1737360"/>
          </a:xfrm>
          <a:prstGeom prst="roundRect">
            <a:avLst>
              <a:gd name="adj" fmla="val 5263"/>
            </a:avLst>
          </a:prstGeom>
          <a:solidFill>
            <a:srgbClr val="028090"/>
          </a:solidFill>
          <a:ln w="15875">
            <a:solidFill>
              <a:srgbClr val="028090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1783080" y="2971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1330" y="3140050"/>
            <a:ext cx="395021" cy="39502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005840" y="3794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vote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952848" y="2743200"/>
            <a:ext cx="2286000" cy="1737360"/>
          </a:xfrm>
          <a:prstGeom prst="roundRect">
            <a:avLst>
              <a:gd name="adj" fmla="val 5263"/>
            </a:avLst>
          </a:prstGeom>
          <a:solidFill>
            <a:srgbClr val="028090"/>
          </a:solidFill>
          <a:ln w="15875">
            <a:solidFill>
              <a:srgbClr val="028090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5730088" y="2971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8337" y="3140050"/>
            <a:ext cx="395021" cy="395021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952848" y="3794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 + calibrate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899855" y="2743200"/>
            <a:ext cx="2286000" cy="1737360"/>
          </a:xfrm>
          <a:prstGeom prst="roundRect">
            <a:avLst>
              <a:gd name="adj" fmla="val 5263"/>
            </a:avLst>
          </a:prstGeom>
          <a:solidFill>
            <a:srgbClr val="028090"/>
          </a:solidFill>
          <a:ln w="15875">
            <a:solidFill>
              <a:srgbClr val="028090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677095" y="2971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45345" y="3140050"/>
            <a:ext cx="395021" cy="395021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899855" y="3794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Trustworthy output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3337560" y="3456432"/>
            <a:ext cx="640080" cy="310896"/>
          </a:xfrm>
          <a:prstGeom prst="rightArrow">
            <a:avLst/>
          </a:prstGeom>
          <a:solidFill>
            <a:srgbClr val="028090"/>
          </a:solidFill>
          <a:ln/>
        </p:spPr>
      </p:sp>
      <p:sp>
        <p:nvSpPr>
          <p:cNvPr id="21" name="Shape 15"/>
          <p:cNvSpPr/>
          <p:nvPr/>
        </p:nvSpPr>
        <p:spPr>
          <a:xfrm>
            <a:off x="7284568" y="3456432"/>
            <a:ext cx="640080" cy="310896"/>
          </a:xfrm>
          <a:prstGeom prst="rightArrow">
            <a:avLst/>
          </a:prstGeom>
          <a:solidFill>
            <a:srgbClr val="028090"/>
          </a:solidFill>
          <a:ln/>
        </p:spPr>
      </p:sp>
      <p:sp>
        <p:nvSpPr>
          <p:cNvPr id="22" name="Text 16"/>
          <p:cNvSpPr/>
          <p:nvPr/>
        </p:nvSpPr>
        <p:spPr>
          <a:xfrm>
            <a:off x="8899855" y="45720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confidence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9128455" y="4864608"/>
            <a:ext cx="1828800" cy="237744"/>
          </a:xfrm>
          <a:prstGeom prst="roundRect">
            <a:avLst>
              <a:gd name="adj" fmla="val 19231"/>
            </a:avLst>
          </a:prstGeom>
          <a:solidFill>
            <a:srgbClr val="DBE4E8"/>
          </a:solidFill>
          <a:ln/>
        </p:spPr>
      </p:sp>
      <p:sp>
        <p:nvSpPr>
          <p:cNvPr id="24" name="Shape 18"/>
          <p:cNvSpPr/>
          <p:nvPr/>
        </p:nvSpPr>
        <p:spPr>
          <a:xfrm>
            <a:off x="9128455" y="4864608"/>
            <a:ext cx="1078992" cy="237744"/>
          </a:xfrm>
          <a:prstGeom prst="roundRect">
            <a:avLst>
              <a:gd name="adj" fmla="val 19231"/>
            </a:avLst>
          </a:prstGeom>
          <a:solidFill>
            <a:srgbClr val="2E8B57"/>
          </a:solidFill>
          <a:ln/>
        </p:spPr>
      </p:sp>
      <p:sp>
        <p:nvSpPr>
          <p:cNvPr id="25" name="Text 19"/>
          <p:cNvSpPr/>
          <p:nvPr/>
        </p:nvSpPr>
        <p:spPr>
          <a:xfrm>
            <a:off x="640080" y="53949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Neighbours vote, results blend, confidence is recalibrated.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asked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40080" y="2286000"/>
            <a:ext cx="338328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60120" y="2606040"/>
            <a:ext cx="914400" cy="91440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2816352"/>
            <a:ext cx="493776" cy="49377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60120" y="3657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RQ1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960120" y="416052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models trustworthy out of the box?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4251960" y="2286000"/>
            <a:ext cx="338328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572000" y="2606040"/>
            <a:ext cx="914400" cy="91440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2312" y="2816352"/>
            <a:ext cx="493776" cy="49377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572000" y="3657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RQ2</a:t>
            </a:r>
            <a:endParaRPr lang="en-US" sz="2200" dirty="0"/>
          </a:p>
        </p:txBody>
      </p:sp>
      <p:sp>
        <p:nvSpPr>
          <p:cNvPr id="17" name="Text 12"/>
          <p:cNvSpPr/>
          <p:nvPr/>
        </p:nvSpPr>
        <p:spPr>
          <a:xfrm>
            <a:off x="4572000" y="416052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a training-free layer improve them?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7863840" y="2286000"/>
            <a:ext cx="338328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183880" y="2606040"/>
            <a:ext cx="914400" cy="91440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4192" y="2816352"/>
            <a:ext cx="493776" cy="49377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183880" y="3657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RQ3</a:t>
            </a:r>
            <a:endParaRPr lang="en-US" sz="2200" dirty="0"/>
          </a:p>
        </p:txBody>
      </p:sp>
      <p:sp>
        <p:nvSpPr>
          <p:cNvPr id="22" name="Text 16"/>
          <p:cNvSpPr/>
          <p:nvPr/>
        </p:nvSpPr>
        <p:spPr>
          <a:xfrm>
            <a:off x="8183880" y="416052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does it work — and when not?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RQ1 — CALIBRATION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Overconfidence is real — and fixable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640080" y="20116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</a:t>
            </a:r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how often right.   </a:t>
            </a:r>
            <a:pPr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</a:t>
            </a:r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does “90% sure” mean right 90% of the time.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40080" y="2834640"/>
            <a:ext cx="4754880" cy="2743200"/>
          </a:xfrm>
          <a:prstGeom prst="roundRect">
            <a:avLst>
              <a:gd name="adj" fmla="val 3000"/>
            </a:avLst>
          </a:prstGeom>
          <a:solidFill>
            <a:srgbClr val="F8E6E3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40080" y="3063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— worst case (vulnerability)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40080" y="342900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0.20</a:t>
            </a:r>
            <a:endParaRPr lang="en-US" sz="7200" dirty="0"/>
          </a:p>
        </p:txBody>
      </p:sp>
      <p:sp>
        <p:nvSpPr>
          <p:cNvPr id="12" name="Text 9"/>
          <p:cNvSpPr/>
          <p:nvPr/>
        </p:nvSpPr>
        <p:spPr>
          <a:xfrm>
            <a:off x="640080" y="47548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miscalibration (ECE) — confidence way off</a:t>
            </a:r>
            <a:endParaRPr lang="en-US" sz="13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3977640"/>
            <a:ext cx="640080" cy="4572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492240" y="2834640"/>
            <a:ext cx="4754880" cy="2743200"/>
          </a:xfrm>
          <a:prstGeom prst="roundRect">
            <a:avLst>
              <a:gd name="adj" fmla="val 3000"/>
            </a:avLst>
          </a:prstGeom>
          <a:solidFill>
            <a:srgbClr val="E3F1E9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6492240" y="3063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temperature scaling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6492240" y="342900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0.06</a:t>
            </a:r>
            <a:endParaRPr lang="en-US" sz="7200" dirty="0"/>
          </a:p>
        </p:txBody>
      </p:sp>
      <p:sp>
        <p:nvSpPr>
          <p:cNvPr id="17" name="Text 13"/>
          <p:cNvSpPr/>
          <p:nvPr/>
        </p:nvSpPr>
        <p:spPr>
          <a:xfrm>
            <a:off x="6492240" y="47548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now tracks reality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640080" y="57607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is standard (temperature scaling, Guo et al. 2017; for code, Zhou et al. ICSE’24) — we apply it, not invent it. We measure it because the SE detector papers don't. Worst-case base shown (vulnerability); every task improves (defect 0.08→0.02).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RQ2 — ACCURACY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Defect prediction: a real gain</a:t>
            </a:r>
            <a:endParaRPr lang="en-US" sz="3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2194560"/>
          <a:ext cx="60350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7040880" y="2286000"/>
            <a:ext cx="4206240" cy="1463040"/>
          </a:xfrm>
          <a:prstGeom prst="roundRect">
            <a:avLst>
              <a:gd name="adj" fmla="val 5625"/>
            </a:avLst>
          </a:prstGeom>
          <a:solidFill>
            <a:srgbClr val="E3F1E9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315200" y="2606040"/>
            <a:ext cx="822960" cy="822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4481" y="2795321"/>
            <a:ext cx="444398" cy="44439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275320" y="24231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Statistically significant</a:t>
            </a:r>
            <a:endParaRPr lang="en-US" sz="1600" dirty="0"/>
          </a:p>
        </p:txBody>
      </p:sp>
      <p:sp>
        <p:nvSpPr>
          <p:cNvPr id="13" name="Text 8"/>
          <p:cNvSpPr/>
          <p:nvPr/>
        </p:nvSpPr>
        <p:spPr>
          <a:xfrm>
            <a:off x="8275320" y="2926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McNemar, p = 2e-19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7040880" y="3931920"/>
            <a:ext cx="420624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315200" y="4224528"/>
            <a:ext cx="822960" cy="82296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4481" y="4413809"/>
            <a:ext cx="444398" cy="44439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275320" y="4069080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CodeImprove’s base model (+1.6 pts) — while also fixing confidence, no retraining.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IT WORKS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7a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can retrieval help?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640080" y="18745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SENTRY checks similar past code. That only helps if similar code carries the same label.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IT WORKS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7a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can retrieval help?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640080" y="18745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SENTRY checks similar past code. That only helps if similar code carries the same label.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640080" y="2697480"/>
            <a:ext cx="4754880" cy="29718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40080" y="280720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Separable — defect, clone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206901" y="4015216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130284" y="5218081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312009" y="4417330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588609" y="5092579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475911" y="5236061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664884" y="3830002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60503" y="3595103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908918" y="3544772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472321" y="4669997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664324" y="4907648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408596" y="3603286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236368" y="4359192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656861" y="5052344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360820" y="4895676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469148" y="3539442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266798" y="4783850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472070" y="4921712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33792" y="4790354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315050" y="4084722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474646" y="4644063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800346" y="4015473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369903" y="4039042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487790" y="4467841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545003" y="4299816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067536" y="4217821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3681790" y="4961314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40080" y="57607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sit apart → neighbours trustworthy → accuracy ↑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IT WORKS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7a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can retrieval help?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640080" y="18745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SENTRY checks similar past code. That only helps if similar code carries the same label.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640080" y="2697480"/>
            <a:ext cx="4754880" cy="29718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40080" y="280720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Separable — defect, clone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206901" y="4015216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130284" y="5218081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312009" y="4417330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588609" y="5092579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475911" y="5236061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664884" y="3830002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60503" y="3595103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908918" y="3544772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472321" y="4669997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664324" y="4907648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408596" y="3603286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236368" y="4359192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656861" y="5052344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360820" y="4895676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469148" y="3539442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266798" y="4783850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472070" y="4921712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33792" y="4790354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315050" y="4084722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474646" y="4644063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800346" y="4015473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369903" y="4039042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487790" y="4467841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545003" y="4299816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067536" y="4217821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3681790" y="4961314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40080" y="57607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sit apart → neighbours trustworthy → accuracy ↑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492240" y="2697480"/>
            <a:ext cx="4754880" cy="29718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39" name="Text 36"/>
          <p:cNvSpPr/>
          <p:nvPr/>
        </p:nvSpPr>
        <p:spPr>
          <a:xfrm>
            <a:off x="6492240" y="280720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Overlapping — vulnerability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9985007" y="4591261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668233" y="3572373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8670385" y="5135080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9709154" y="4064369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8138783" y="4796606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855426" y="3862054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528524" y="3648628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7693035" y="5129912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8539306" y="3800415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828982" y="4808627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8549239" y="4185599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9681298" y="4729854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7334564" y="4986345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9189409" y="5072215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0588416" y="3818880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9697599" y="4875549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203590" y="4574907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9572939" y="5068967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8485933" y="4074291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9290505" y="5075542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7531638" y="4694580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10600020" y="5021809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0418146" y="4576009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9509441" y="3797428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0350648" y="4454047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9781369" y="3594877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6492240" y="57607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mixed → neighbours are noise → retrieval skipped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IT WORKS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7a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can retrieval help?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640080" y="18745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SENTRY checks similar past code. That only helps if similar code carries the same label.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640080" y="2697480"/>
            <a:ext cx="4754880" cy="29718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40080" y="280720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Separable — defect, clone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206901" y="4015216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130284" y="5218081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312009" y="4417330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588609" y="5092579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475911" y="5236061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664884" y="3830002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60503" y="3595103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908918" y="3544772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472321" y="4669997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664324" y="4907648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408596" y="3603286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236368" y="4359192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656861" y="5052344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360820" y="4895676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469148" y="3539442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266798" y="4783850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472070" y="4921712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33792" y="4790354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315050" y="4084722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474646" y="4644063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800346" y="4015473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369903" y="4039042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487790" y="4467841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545003" y="4299816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067536" y="4217821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3681790" y="4961314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40080" y="57607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sit apart → neighbours trustworthy → accuracy ↑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492240" y="2697480"/>
            <a:ext cx="4754880" cy="29718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39" name="Text 36"/>
          <p:cNvSpPr/>
          <p:nvPr/>
        </p:nvSpPr>
        <p:spPr>
          <a:xfrm>
            <a:off x="6492240" y="280720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Overlapping — vulnerability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9985007" y="4591261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668233" y="3572373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8670385" y="5135080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9709154" y="4064369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8138783" y="4796606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855426" y="3862054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528524" y="3648628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7693035" y="5129912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8539306" y="3800415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828982" y="4808627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8549239" y="4185599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9681298" y="4729854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7334564" y="4986345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9189409" y="5072215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0588416" y="3818880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9697599" y="4875549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203590" y="4574907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9572939" y="5068967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8485933" y="4074291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9290505" y="5075542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7531638" y="4694580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10600020" y="5021809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0418146" y="4576009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9509441" y="3797428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0350648" y="4454047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9781369" y="3594877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6492240" y="57607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mixed → neighbours are noise → retrieval skipped</a:t>
            </a:r>
            <a:endParaRPr lang="en-US" sz="1300" dirty="0"/>
          </a:p>
        </p:txBody>
      </p:sp>
      <p:sp>
        <p:nvSpPr>
          <p:cNvPr id="67" name="Text 64"/>
          <p:cNvSpPr/>
          <p:nvPr/>
        </p:nvSpPr>
        <p:spPr>
          <a:xfrm>
            <a:off x="640080" y="62636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deciding factor is separability — not whether the task is binary. Clone detection is binary yet separable, and it works.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RQ3 — WHERE IT WORKS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about the limits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40080" y="2286000"/>
            <a:ext cx="5029200" cy="3383280"/>
          </a:xfrm>
          <a:prstGeom prst="roundRect">
            <a:avLst>
              <a:gd name="adj" fmla="val 2432"/>
            </a:avLst>
          </a:prstGeom>
          <a:solidFill>
            <a:srgbClr val="E3F1E9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60120" y="260604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2816352"/>
            <a:ext cx="493776" cy="49377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011680" y="27432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Works: defect prediction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1005840" y="3840480"/>
            <a:ext cx="4297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separate the 4 classes (MCC ≈ 0.74).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Neighbours are trustworthy — kNN adds accuracy, significantly.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6126480" y="2286000"/>
            <a:ext cx="5029200" cy="3383280"/>
          </a:xfrm>
          <a:prstGeom prst="roundRect">
            <a:avLst>
              <a:gd name="adj" fmla="val 2432"/>
            </a:avLst>
          </a:prstGeom>
          <a:solidFill>
            <a:srgbClr val="F8E6E3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46520" y="260604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832" y="2816352"/>
            <a:ext cx="493776" cy="49377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498080" y="27432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Retrieval can’t: vulnerability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6492240" y="3840480"/>
            <a:ext cx="4297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Vulnerable vs safe code overlaps (MCC ≈ 0.26, ReVeal).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Neighbours are noise — SENTRY falls back to calibration; accuracy preserved.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640080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helps iff the embedding separates classes — multiclass AND binary clone detection; it fails on vulnerability (unlearnable). The axis is separability, not binary-vs-multiclass.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PRIOR WORK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SENTRY sits</a:t>
            </a:r>
            <a:endParaRPr lang="en-US" sz="34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94560"/>
          <a:ext cx="10911535" cy="914400"/>
        </p:xfrm>
        <a:graphic>
          <a:graphicData uri="http://schemas.openxmlformats.org/drawingml/2006/table">
            <a:tbl>
              <a:tblPr/>
              <a:tblGrid>
                <a:gridCol w="4160520"/>
                <a:gridCol w="2011680"/>
                <a:gridCol w="3108960"/>
                <a:gridCol w="1627632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 (defect prediction)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 training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CodeBERT — base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overconfident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632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CodeBERT + SENTRY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632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calibrated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632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GraphCodeBERT — base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overconfident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632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GraphCodeBERT + SENTRY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632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calibrated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632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CodeImprove (ICSE’25, input-side)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not addressed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640080" y="59436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 prediction (CodeChef). On vulnerability detection SENTRY matches the base detector (~61%) and adds calibration + abstention — we do not claim accuracy SOTA there. Complementary to post-hoc calibration (incl. kNN-UE, NAACL’25) and to input-side CodeImprove.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Strengths, limits, and next steps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40080" y="2194560"/>
            <a:ext cx="3383280" cy="3657600"/>
          </a:xfrm>
          <a:prstGeom prst="roundRect">
            <a:avLst>
              <a:gd name="adj" fmla="val 2432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60120" y="2468880"/>
            <a:ext cx="777240" cy="777240"/>
          </a:xfrm>
          <a:prstGeom prst="ellipse">
            <a:avLst/>
          </a:prstGeom>
          <a:solidFill>
            <a:srgbClr val="E3F1E9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885" y="2647645"/>
            <a:ext cx="419710" cy="41971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828800" y="24688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Strengths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1005840" y="3429000"/>
            <a:ext cx="2743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+ calibration together, no retraining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defect gain (McNemar p=4e-6)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datasets × 4 encoders; clone control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Strengths, limits, and next steps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40080" y="2194560"/>
            <a:ext cx="3383280" cy="3657600"/>
          </a:xfrm>
          <a:prstGeom prst="roundRect">
            <a:avLst>
              <a:gd name="adj" fmla="val 2432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60120" y="2468880"/>
            <a:ext cx="777240" cy="777240"/>
          </a:xfrm>
          <a:prstGeom prst="ellipse">
            <a:avLst/>
          </a:prstGeom>
          <a:solidFill>
            <a:srgbClr val="E3F1E9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885" y="2647645"/>
            <a:ext cx="419710" cy="41971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828800" y="24688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Strengths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1005840" y="3429000"/>
            <a:ext cx="2743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+ calibration together, no retraining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defect gain (McNemar p=4e-6)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datasets × 4 encoders; clone control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251960" y="2194560"/>
            <a:ext cx="3383280" cy="3657600"/>
          </a:xfrm>
          <a:prstGeom prst="roundRect">
            <a:avLst>
              <a:gd name="adj" fmla="val 2432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572000" y="2468880"/>
            <a:ext cx="777240" cy="777240"/>
          </a:xfrm>
          <a:prstGeom prst="ellipse">
            <a:avLst/>
          </a:prstGeom>
          <a:solidFill>
            <a:srgbClr val="F8E6E3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0765" y="2647645"/>
            <a:ext cx="419710" cy="41971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440680" y="24688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Weaknesses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4617720" y="3429000"/>
            <a:ext cx="2743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can’t help non-separable tasks (vuln)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Separability seen post-hoc, not predicted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= representability ceiling (data)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Strengths, limits, and next steps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40080" y="2194560"/>
            <a:ext cx="3383280" cy="3657600"/>
          </a:xfrm>
          <a:prstGeom prst="roundRect">
            <a:avLst>
              <a:gd name="adj" fmla="val 2432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60120" y="2468880"/>
            <a:ext cx="777240" cy="777240"/>
          </a:xfrm>
          <a:prstGeom prst="ellipse">
            <a:avLst/>
          </a:prstGeom>
          <a:solidFill>
            <a:srgbClr val="E3F1E9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885" y="2647645"/>
            <a:ext cx="419710" cy="41971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828800" y="24688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Strengths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1005840" y="3429000"/>
            <a:ext cx="2743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+ calibration together, no retraining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defect gain (McNemar p=4e-6)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datasets × 4 encoders; clone control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251960" y="2194560"/>
            <a:ext cx="3383280" cy="3657600"/>
          </a:xfrm>
          <a:prstGeom prst="roundRect">
            <a:avLst>
              <a:gd name="adj" fmla="val 2432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572000" y="2468880"/>
            <a:ext cx="777240" cy="777240"/>
          </a:xfrm>
          <a:prstGeom prst="ellipse">
            <a:avLst/>
          </a:prstGeom>
          <a:solidFill>
            <a:srgbClr val="F8E6E3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0765" y="2647645"/>
            <a:ext cx="419710" cy="41971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440680" y="24688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Weaknesses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4617720" y="3429000"/>
            <a:ext cx="2743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can’t help non-separable tasks (vuln)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Separability seen post-hoc, not predicted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= representability ceiling (data)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7863840" y="2194560"/>
            <a:ext cx="3383280" cy="3657600"/>
          </a:xfrm>
          <a:prstGeom prst="roundRect">
            <a:avLst>
              <a:gd name="adj" fmla="val 2432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183880" y="2468880"/>
            <a:ext cx="777240" cy="77724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2645" y="2647645"/>
            <a:ext cx="419710" cy="41971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052560" y="24688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What’s next</a:t>
            </a:r>
            <a:endParaRPr lang="en-US" sz="1800" dirty="0"/>
          </a:p>
        </p:txBody>
      </p:sp>
      <p:sp>
        <p:nvSpPr>
          <p:cNvPr id="22" name="Text 16"/>
          <p:cNvSpPr/>
          <p:nvPr/>
        </p:nvSpPr>
        <p:spPr>
          <a:xfrm>
            <a:off x="8229600" y="3429000"/>
            <a:ext cx="2743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Auto-gate from the separability signal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with uncertainty estimators (kNN-UE)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Broaden tasks; combine with CodeImprove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64328" y="1371600"/>
            <a:ext cx="1463040" cy="1463040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75224" y="1719072"/>
            <a:ext cx="841248" cy="8046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306324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spc="3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0" y="384048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Trustworthy confidence for code models — no retraining.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0" y="457200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github.com/jsureka/SENTRY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0" y="56692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Jitesh Sureka</a:t>
            </a:r>
            <a:pPr algn="ctr" indent="0" marL="0">
              <a:buNone/>
            </a:pPr>
            <a:r>
              <a:rPr lang="en-US" sz="14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(Roll 1988)   •   Supervised by </a:t>
            </a:r>
            <a:pPr algn="ctr"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Emon Kumar Dey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SENTRY — Results &amp; Discussion</dc:title>
  <dc:subject>PptxGenJS Presentation</dc:subject>
  <dc:creator>Jitesh Sureka</dc:creator>
  <cp:lastModifiedBy>Jitesh Sureka</cp:lastModifiedBy>
  <cp:revision>1</cp:revision>
  <dcterms:created xsi:type="dcterms:W3CDTF">2026-06-26T19:10:14Z</dcterms:created>
  <dcterms:modified xsi:type="dcterms:W3CDTF">2026-06-26T19:10:14Z</dcterms:modified>
</cp:coreProperties>
</file>